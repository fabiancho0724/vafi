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Presupuesto Total ($ M)</c:v>
                </c:pt>
              </c:strCache>
            </c:strRef>
          </c:tx>
          <c:cat>
            <c:strRef>
              <c:f>Sheet1!$A$2:$A$5</c:f>
              <c:strCache>
                <c:ptCount val="4"/>
                <c:pt idx="0">
                  <c:v>2024 (Real)</c:v>
                </c:pt>
                <c:pt idx="1">
                  <c:v>2025 (Real)</c:v>
                </c:pt>
                <c:pt idx="2">
                  <c:v>2026 (Base Oficial)</c:v>
                </c:pt>
                <c:pt idx="3">
                  <c:v>2027 (Proyección)</c:v>
                </c:pt>
              </c:strCache>
            </c:strRef>
          </c:cat>
          <c:val>
            <c:numRef>
              <c:f>Sheet1!$B$2:$B$5</c:f>
              <c:numCache>
                <c:formatCode>General</c:formatCode>
                <c:ptCount val="4"/>
                <c:pt idx="0">
                  <c:v>339349.1</c:v>
                </c:pt>
                <c:pt idx="1">
                  <c:v>379566.3</c:v>
                </c:pt>
                <c:pt idx="2">
                  <c:v>463582.5</c:v>
                </c:pt>
                <c:pt idx="3">
                  <c:v>493139.5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 2026 ($ M)</c:v>
                </c:pt>
              </c:strCache>
            </c:strRef>
          </c:tx>
          <c:cat>
            <c:strRef>
              <c:f>Sheet1!$A$2:$A$7</c:f>
              <c:strCache>
                <c:ptCount val="6"/>
                <c:pt idx="0">
                  <c:v>R10 Nación</c:v>
                </c:pt>
                <c:pt idx="1">
                  <c:v>R14 Gratuidad</c:v>
                </c:pt>
                <c:pt idx="2">
                  <c:v>R20 Propios</c:v>
                </c:pt>
                <c:pt idx="3">
                  <c:v>R12 UNAL</c:v>
                </c:pt>
                <c:pt idx="4">
                  <c:v>R16 Inversión</c:v>
                </c:pt>
                <c:pt idx="5">
                  <c:v>R40 Est. UPTC</c:v>
                </c:pt>
              </c:strCache>
            </c:strRef>
          </c:cat>
          <c:val>
            <c:numRef>
              <c:f>Sheet1!$B$2:$B$7</c:f>
              <c:numCache>
                <c:formatCode>General</c:formatCode>
                <c:ptCount val="6"/>
                <c:pt idx="0">
                  <c:v>364009.3</c:v>
                </c:pt>
                <c:pt idx="1">
                  <c:v>49844.2</c:v>
                </c:pt>
                <c:pt idx="2">
                  <c:v>13187.8</c:v>
                </c:pt>
                <c:pt idx="3">
                  <c:v>9015.9</c:v>
                </c:pt>
                <c:pt idx="4">
                  <c:v>7740.3</c:v>
                </c:pt>
                <c:pt idx="5">
                  <c:v>5737.3</c:v>
                </c:pt>
              </c:numCache>
            </c:numRef>
          </c:val>
        </c:ser>
        <c:ser>
          <c:idx val="1"/>
          <c:order val="1"/>
          <c:tx>
            <c:strRef>
              <c:f>Sheet1!$C$1</c:f>
              <c:strCache>
                <c:ptCount val="1"/>
                <c:pt idx="0">
                  <c:v>Proy. 2027 ($ M)</c:v>
                </c:pt>
              </c:strCache>
            </c:strRef>
          </c:tx>
          <c:cat>
            <c:strRef>
              <c:f>Sheet1!$A$2:$A$7</c:f>
              <c:strCache>
                <c:ptCount val="6"/>
                <c:pt idx="0">
                  <c:v>R10 Nación</c:v>
                </c:pt>
                <c:pt idx="1">
                  <c:v>R14 Gratuidad</c:v>
                </c:pt>
                <c:pt idx="2">
                  <c:v>R20 Propios</c:v>
                </c:pt>
                <c:pt idx="3">
                  <c:v>R12 UNAL</c:v>
                </c:pt>
                <c:pt idx="4">
                  <c:v>R16 Inversión</c:v>
                </c:pt>
                <c:pt idx="5">
                  <c:v>R40 Est. UPTC</c:v>
                </c:pt>
              </c:strCache>
            </c:strRef>
          </c:cat>
          <c:val>
            <c:numRef>
              <c:f>Sheet1!$C$2:$C$7</c:f>
              <c:numCache>
                <c:formatCode>General</c:formatCode>
                <c:ptCount val="6"/>
                <c:pt idx="0">
                  <c:v>387451.5</c:v>
                </c:pt>
                <c:pt idx="1">
                  <c:v>52834.8</c:v>
                </c:pt>
                <c:pt idx="2">
                  <c:v>13979.1</c:v>
                </c:pt>
                <c:pt idx="3">
                  <c:v>9556.9</c:v>
                </c:pt>
                <c:pt idx="4">
                  <c:v>8311.0</c:v>
                </c:pt>
                <c:pt idx="5">
                  <c:v>6081.5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txPr>
        <a:bodyPr/>
        <a:lstStyle/>
        <a:p>
          <a:pPr>
            <a:defRPr sz="85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1 - PORTADA):</a:t>
            </a:r>
          </a:p>
          <a:p>
            <a:r>
              <a:t>- Saludo institucional: Agradecer a los miembros del Consejo Superior Universitario / Consejo Académico y Directivos de la Universidad.</a:t>
            </a:r>
          </a:p>
          <a:p>
            <a:r>
              <a:t>- Objetivo de la sesión: Presentar el modelo y los resultados oficiales de la Proyección Presupuestal para la vigencia 2027, elaborado por la Vicerrectoría Administrativa y Financiera (VAFI).</a:t>
            </a:r>
          </a:p>
          <a:p>
            <a:r>
              <a:t>- Estructura de la exposición: La presentación recorrerá de manera ejecutiva:</a:t>
            </a:r>
          </a:p>
          <a:p>
            <a:r>
              <a:t>  1. El comportamiento y tendencias observadas entre 2024 y 2026.</a:t>
            </a:r>
          </a:p>
          <a:p>
            <a:r>
              <a:t>  2. Las variables determinantes y el marco legal que rige cada fondo.</a:t>
            </a:r>
          </a:p>
          <a:p>
            <a:r>
              <a:t>  3. Los supuestos macroeconómicos y techos normativos aplicados.</a:t>
            </a:r>
          </a:p>
          <a:p>
            <a:r>
              <a:t>  4. Los resultados globales consolidados ($493.139,5 M COP) y por cada recurso.</a:t>
            </a:r>
          </a:p>
          <a:p>
            <a:r>
              <a:t>  5. La matriz de riesgos fiscales y las conclusiones de sostenibilidad para la toma de decisiones.</a:t>
            </a:r>
          </a:p>
          <a:p>
            <a:r>
              <a:t>- Tono: Riguroso, transparente, técnicamente sólido y orientado a la prudencia financiera del alma máter.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2 - MENSAJE EJECUTIVO):</a:t>
            </a:r>
          </a:p>
          <a:p>
            <a:r>
              <a:t>- Cifras a destacar:</a:t>
            </a:r>
          </a:p>
          <a:p>
            <a:r>
              <a:t>  1. Base 2026: $463.582,5 millones.</a:t>
            </a:r>
          </a:p>
          <a:p>
            <a:r>
              <a:t>  2. Proyección 2027: $493.139,5 millones.</a:t>
            </a:r>
          </a:p>
          <a:p>
            <a:r>
              <a:t>  3. Crecimiento absoluto: +$29.557,0 millones de pesos (+6,38%).</a:t>
            </a:r>
          </a:p>
          <a:p>
            <a:r>
              <a:t>- Explicar los tres mensajes clave:</a:t>
            </a:r>
          </a:p>
          <a:p>
            <a:r>
              <a:t>  1. Comportamiento: La universidad creció +36,6% entre 2024 y 2026, pasando de $339.349M a $463.582M. Esto ocurrió porque entraron en vigencia la gratuidad universal (Ley 2307) y las mejoras salariales del magisterio y sector público.</a:t>
            </a:r>
          </a:p>
          <a:p>
            <a:r>
              <a:t>  2. Proyección: La cifra de 2027 no es una aspiración sin sustento; se ajusta con exactitud matemática al techo presupuestal fijado en el Proyecto PGN 2027 del Ministerio de Hacienda para funcionamiento ($395.704,6M).</a:t>
            </a:r>
          </a:p>
          <a:p>
            <a:r>
              <a:t>  3. Riesgo: 95 de cada 100 pesos provienen de la Nación. Cualquier demora en los desembolsos de Bogotá afecta la tesorería de Tunja. La gestión financiera debe concentrarse en el flujo de caja mensual.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3 - ALCANCE DEL MODELO):</a:t>
            </a:r>
          </a:p>
          <a:p>
            <a:r>
              <a:t>- Qué explicar: La taxonomía de ingresos de la UPTC tiene dos grandes bloques:</a:t>
            </a:r>
          </a:p>
          <a:p>
            <a:r>
              <a:t>  1. Transferencias Nacionales (7 conceptos): Suman $468.126M y representan el 94,93% del total. Aquí están el Art. 86 (R10), la Gratuidad (R14), y las estampillas/decretos especiales.</a:t>
            </a:r>
          </a:p>
          <a:p>
            <a:r>
              <a:t>  2. Autogestión Institucional (12 conceptos): Suman $25.013M y representan el 5,07%. Incluyen los 10 conceptos de Recursos Propios R20 ($13.979M), la Estampilla Departamental R40 ($6.081M) y la Devolución de IVA R21 ($4.952M).</a:t>
            </a:r>
          </a:p>
          <a:p>
            <a:r>
              <a:t>- Mensaje para la Alta Dirección:</a:t>
            </a:r>
          </a:p>
          <a:p>
            <a:r>
              <a:t>  Aunque la autogestión es solo el 5,1% del volumen, es el único recurso con autonomía institucional para atender necesidades inmediatas no cubiertas por giros nacionales.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10 - COMPOSICIÓN DE RECURSOS):</a:t>
            </a:r>
          </a:p>
          <a:p>
            <a:r>
              <a:t>- Qué destacar ante el Consejo / Directivos:</a:t>
            </a:r>
          </a:p>
          <a:p>
            <a:r>
              <a:t>  1. La concentración es altísima: R10 (Funcionamiento) pesa 78,6% y R14 (Gratuidad) pesa 10,7%. Juntos son el 89,3% del presupuesto.</a:t>
            </a:r>
          </a:p>
          <a:p>
            <a:r>
              <a:t>  2. R20 (Propios) es el 2,8% ($13.979M).</a:t>
            </a:r>
          </a:p>
          <a:p>
            <a:r>
              <a:t>  3. Las estampillas (UNAL y Departamental) representan el 3,2% conjunto ($15.638M).</a:t>
            </a:r>
          </a:p>
          <a:p>
            <a:r>
              <a:t>- Mensaje estratégico:</a:t>
            </a:r>
          </a:p>
          <a:p>
            <a:r>
              <a:t>  La UPTC es financieramente dependiente del Gobierno Central en un 95%. Esto resalta la importancia de mantener una relación técnica fluida con el MEN y la Dirección General del Presupuesto Nacional.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5 - VARIABLES DETERMINANTES):</a:t>
            </a:r>
          </a:p>
          <a:p>
            <a:r>
              <a:t>- Explicar las 5 fuerzas motrices:</a:t>
            </a:r>
          </a:p>
          <a:p>
            <a:r>
              <a:t>  1. Indexación PGN: No inventamos la cifra de R10; responde a la ley de presupuesto y los acuerdos salariales nacionales.</a:t>
            </a:r>
          </a:p>
          <a:p>
            <a:r>
              <a:t>  2. Gratuidad: Pasó de ser un programa piloto a una ley permanente de financiamiento que sustituyó el pago familiar.</a:t>
            </a:r>
          </a:p>
          <a:p>
            <a:r>
              <a:t>  3. Matrícula y Derechos (R20): Depende de posgrados y derechos complementarios de los estudiantes.</a:t>
            </a:r>
          </a:p>
          <a:p>
            <a:r>
              <a:t>  4. Devolución IVA: Depende del volumen de compras de la universidad y de la agilidad de la DIAN para devolver los saldos a favor.</a:t>
            </a:r>
          </a:p>
          <a:p>
            <a:r>
              <a:t>  5. Estampilla Departamental: Refleja la ejecución de contratos en el departamento de Boyacá.</a:t>
            </a:r>
          </a:p>
          <a:p>
            <a:r>
              <a:t>- Conclusión: Cada recurso tiene su propio motor de crecimiento. No podemos tratarlos como si fueran idénticos.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6 - METODOLOGÍA):</a:t>
            </a:r>
          </a:p>
          <a:p>
            <a:r>
              <a:t>- Explicar las 6 etapas del pipeline:</a:t>
            </a:r>
          </a:p>
          <a:p>
            <a:r>
              <a:t>  1. Depuración histórica: No tomamos presupuestos iniciales, tomamos el recaudo real verificado en libros.</a:t>
            </a:r>
          </a:p>
          <a:p>
            <a:r>
              <a:t>  2. Inductor clave: Para R10 es el decreto salarial; para R14 es el número de estudiantes en gratuidad.</a:t>
            </a:r>
          </a:p>
          <a:p>
            <a:r>
              <a:t>  3. Supuesto: Se fijó el +6,0% como tasa macro oficial y +6,44% para transferencias salariales.</a:t>
            </a:r>
          </a:p>
          <a:p>
            <a:r>
              <a:t>  4. Algoritmo: Se corrieron modelos econométricos (medias móviles, Holt-Winters, CAGR) y se seleccionó el oficial.</a:t>
            </a:r>
          </a:p>
          <a:p>
            <a:r>
              <a:t>  5. Proyección: Cada concepto tiene su valor exacto en pesos COP, sin aproximaciones toscas.</a:t>
            </a:r>
          </a:p>
          <a:p>
            <a:r>
              <a:t>  6. Validación: Cotejamos con el documento oficial del Proyecto de Ley del PGN 2027 radicado por MinHacienda.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7 - SUPUESTOS DEL MODELO):</a:t>
            </a:r>
          </a:p>
          <a:p>
            <a:r>
              <a:t>- Justificación de los supuestos:</a:t>
            </a:r>
          </a:p>
          <a:p>
            <a:r>
              <a:t>  1. +6,00% Macro: Se definió institucionalmente como piso razonable de crecimiento para no inflar los gastos. Cubre la inflación proyectada más un margen de esfuerzo en recaudo.</a:t>
            </a:r>
          </a:p>
          <a:p>
            <a:r>
              <a:t>  2. +6,44% PGN Funcionamiento: No es una cifra arbitraria; es la tasa exacta que resulta de comparar el presupuesto de funcionamiento de la UPTC en el Proyecto de Ley del PGN 2027 frente a la base 2026.</a:t>
            </a:r>
          </a:p>
          <a:p>
            <a:r>
              <a:t>  3. +7,37% Inversión: Proviene del valor nominal exacto asignado en el Presupuesto General de la Nación para inversión ($8.310,95 M).</a:t>
            </a:r>
          </a:p>
          <a:p>
            <a:r>
              <a:t>  4. Parámetros Holt (α=0.5, β=0.3): Permiten calibrar la sensibilidad matemática de la Devolución de IVA en caso de escenarios estocásticos.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8 - MATRIZ POR RECURSO):</a:t>
            </a:r>
          </a:p>
          <a:p>
            <a:r>
              <a:t>- Qué mostrar en la tabla:</a:t>
            </a:r>
          </a:p>
          <a:p>
            <a:r>
              <a:t>  Esta matriz resume los 10 recursos financieros de la universidad. Nótese la diferenciación técnica:</a:t>
            </a:r>
          </a:p>
          <a:p>
            <a:r>
              <a:t>  • Recursos atados a ley nacional (R10, R16, R17, R18): Se respetan las cifras del Proyecto de Ley PGN 2027.</a:t>
            </a:r>
          </a:p>
          <a:p>
            <a:r>
              <a:t>  • Recursos de autogestión y tributarios (R12, R13, R14, R20, R21, R40): Se proyectan con el parámetro prudente institucional del +6,0%, contrastándolo con modelos de referencia como Holt-Winters o CAGR.</a:t>
            </a:r>
          </a:p>
          <a:p>
            <a:r>
              <a:t>- Destacar: No hay improvisación en ningún renglón presupuestal. Cada valor tiene trazabilidad normativa.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9 - RESULTADO GLOBAL):</a:t>
            </a:r>
          </a:p>
          <a:p>
            <a:r>
              <a:t>- Cifra principal:</a:t>
            </a:r>
          </a:p>
          <a:p>
            <a:r>
              <a:t>  El presupuesto total proyectado para 2027 es de $493.139,5 millones de pesos ($493.139.540.916 COP).</a:t>
            </a:r>
          </a:p>
          <a:p>
            <a:r>
              <a:t>- Crecimiento nominal:</a:t>
            </a:r>
          </a:p>
          <a:p>
            <a:r>
              <a:t>  La universidad contará con $29.557 millones de pesos adicionales respecto a la base de 2026 (+6,38%).</a:t>
            </a:r>
          </a:p>
          <a:p>
            <a:r>
              <a:t>- Desglose macro:</a:t>
            </a:r>
          </a:p>
          <a:p>
            <a:r>
              <a:t>  • Giros de la Nación: Pasan de $439.985M a $468.126M (+6,40%).</a:t>
            </a:r>
          </a:p>
          <a:p>
            <a:r>
              <a:t>  • Autogestión (Propios + IVA + Estampilla): Pasa de $23.597M a $25.013M (+6,00%).</a:t>
            </a:r>
          </a:p>
          <a:p>
            <a:r>
              <a:t>- Conclusión ejecutiva:</a:t>
            </a:r>
          </a:p>
          <a:p>
            <a:r>
              <a:t>  Este crecimiento nominal de casi $30 mil millones permite cubrir con holgura los compromisos laborales derivados del aumento salarial decretado y sostener la operación ordinaria de las sedes.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11 - RECURSOS DE MAYOR INCIDENCIA):</a:t>
            </a:r>
          </a:p>
          <a:p>
            <a:r>
              <a:t>- Enfoque directivo:</a:t>
            </a:r>
          </a:p>
          <a:p>
            <a:r>
              <a:t>  Si la alta dirección tuviera solo 5 minutos para vigilar el presupuesto, debe poner sus ojos en estos 4 recursos:</a:t>
            </a:r>
          </a:p>
          <a:p>
            <a:r>
              <a:t>  1. R10 ($387.451M): Si el giro de nómina se atrasa una semana, colapsa el funcionamiento de la universidad.</a:t>
            </a:r>
          </a:p>
          <a:p>
            <a:r>
              <a:t>  2. R14 ($52.835M): Gratuidad requiere auditoría de matrículas y liquidación oportuna ante el MEN para evitar que se represen los pagos.</a:t>
            </a:r>
          </a:p>
          <a:p>
            <a:r>
              <a:t>  3. R20 ($13.979M): Autogestión. Da flexibilidad inmediata para atender imprevistos en sedes y facultades.</a:t>
            </a:r>
          </a:p>
          <a:p>
            <a:r>
              <a:t>  4. R16 ($8.311M): Inversión asignada por Ley PGN. No se puede destinar a funcionamiento; debe ejecutarse estrictamente en proyectos radicados ante el Banco de Proyectos.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12 - BASE VS PROYECCIÓN):</a:t>
            </a:r>
          </a:p>
          <a:p>
            <a:r>
              <a:t>- Dónde se concentra el crecimiento:</a:t>
            </a:r>
          </a:p>
          <a:p>
            <a:r>
              <a:t>  De los $29.557 millones de pesos nuevos que ingresarán en 2027:</a:t>
            </a:r>
          </a:p>
          <a:p>
            <a:r>
              <a:t>  • Casi el 80% ($23.442M) corresponde a los aportes de nómina de la Nación (R10).</a:t>
            </a:r>
          </a:p>
          <a:p>
            <a:r>
              <a:t>  • El 10% ($2.991M) corresponde a la expansión del fondo de gratuidad (R14).</a:t>
            </a:r>
          </a:p>
          <a:p>
            <a:r>
              <a:t>  • Toda la autogestión y los demás fondos se reparten el 10% restante.</a:t>
            </a:r>
          </a:p>
          <a:p>
            <a:r>
              <a:t>- Conclusión:</a:t>
            </a:r>
          </a:p>
          <a:p>
            <a:r>
              <a:t>  El incremento presupuestal está plenamente etiquetado para sostener los costos de personal y la matrícula universal. No hay margen para gastos discrecionales desmedidos.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13 - MATRIZ DE BALANCE GENERAL):</a:t>
            </a:r>
          </a:p>
          <a:p>
            <a:r>
              <a:t>- Esta es la matriz formal que fundamenta el Proyecto de Acuerdo del Presupuesto 2027 a ser presentado ante el Consejo Superior Universitario.</a:t>
            </a:r>
          </a:p>
          <a:p>
            <a:r>
              <a:t>- Datos clave a enunciar:</a:t>
            </a:r>
          </a:p>
          <a:p>
            <a:r>
              <a:t>  1. Giros Nación: $468.126.438.411 COP (94,93%).</a:t>
            </a:r>
          </a:p>
          <a:p>
            <a:r>
              <a:t>  2. Autogestión: $25.013.102.495 COP (5,07%).</a:t>
            </a:r>
          </a:p>
          <a:p>
            <a:r>
              <a:t>  3. Total Institucional: $493.139.540.916 COP (100,00%).</a:t>
            </a:r>
          </a:p>
          <a:p>
            <a:r>
              <a:t>- Rigor técnico:</a:t>
            </a:r>
          </a:p>
          <a:p>
            <a:r>
              <a:t>  Todas las cifras cuadran al milímetro con las bases de datos de tesorería y el sistema de información VAFI.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14 - MATRIZ DE RIESGOS):</a:t>
            </a:r>
          </a:p>
          <a:p>
            <a:r>
              <a:t>- Transmitir seguridad técnica:</a:t>
            </a:r>
          </a:p>
          <a:p>
            <a:r>
              <a:t>  No solo sabemos cuánto dinero se proyecta; también sabemos qué puede salir mal y cómo mitigarlo:</a:t>
            </a:r>
          </a:p>
          <a:p>
            <a:r>
              <a:t>  • Rojo (Alto): Dependencia extrema de giros de Gratuidad (R14). Si el MEN se demora en expedir la resolución, podemos tener un bache de caja en febrero o marzo. Mitigación: Colchón de liquidez en cuentas de R20.</a:t>
            </a:r>
          </a:p>
          <a:p>
            <a:r>
              <a:t>  • Naranja (Medio): La DIAN suele tardar en devolver el IVA. Mitigación: Radicar expedientes cada 3 meses sin esperar al cierre de año.</a:t>
            </a:r>
          </a:p>
          <a:p>
            <a:r>
              <a:t>  • Verde (Bajo): Matrículas propias y estampilla departamental tienen un recaudo estable y predecible.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15 - PRINCIPALES HALLAZGOS):</a:t>
            </a:r>
          </a:p>
          <a:p>
            <a:r>
              <a:t>- Resumen ejecutivo para directivos:</a:t>
            </a:r>
          </a:p>
          <a:p>
            <a:r>
              <a:t>  1. Concentración: 89% del presupuesto está en dos bolsas de dinero (R10 y R14).</a:t>
            </a:r>
          </a:p>
          <a:p>
            <a:r>
              <a:t>  2. Crecimiento controlado: +6,38% ($29.557M nuevos) cubre aumentos de salarios sin crear déficit.</a:t>
            </a:r>
          </a:p>
          <a:p>
            <a:r>
              <a:t>  3. Respeto al techo: Cumplimos al 100% con el Proyecto PGN 2027.</a:t>
            </a:r>
          </a:p>
          <a:p>
            <a:r>
              <a:t>  4. Fin del cobro directo: La matrícula familiar ya no sostiene a la universidad; ahora la sostiene la Ley 2307.</a:t>
            </a:r>
          </a:p>
          <a:p>
            <a:r>
              <a:t>  5. La autogestión es pequeña (5%) pero vital: Sin ella, no habría con qué financiar imprevistos o compras urgentes.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NOTAS DEL PRESENTADOR (DIAPOSITIVA 16 - CONCLUSIÓN Y CIERRE):</a:t>
            </a:r>
          </a:p>
          <a:p>
            <a:r>
              <a:t>- Palabras finales del expositor:</a:t>
            </a:r>
          </a:p>
          <a:p>
            <a:r>
              <a:t>  Señores miembros del Consejo Superior y directivos:</a:t>
            </a:r>
          </a:p>
          <a:p>
            <a:r>
              <a:t>  1. Concluimos que el modelo presupuestal para 2027 en $493.139,5 millones de pesos es financieramente viable, técnicamente auditado y legalmente consistente con el PGN 2027.</a:t>
            </a:r>
          </a:p>
          <a:p>
            <a:r>
              <a:t>  2. No es una cifra escrita sobre piedra; es un modelo vivo que se actualizará con cualquier cambio que apruebe el Congreso en la ley definitiva.</a:t>
            </a:r>
          </a:p>
          <a:p>
            <a:r>
              <a:t>  3. La recomendación de la Vicerrectoría Administrativa y Financiera es adoptar esta matriz como base para la elaboración del proyecto de presupuesto institucional de la vigencia 2027.</a:t>
            </a:r>
          </a:p>
          <a:p>
            <a:r>
              <a:t>- Abrir la sesión a preguntas, comentarios y deliberación. Muchas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45920" y="1554480"/>
            <a:ext cx="4389120" cy="320040"/>
          </a:xfrm>
          <a:prstGeom prst="roundRect">
            <a:avLst/>
          </a:prstGeom>
          <a:solidFill>
            <a:srgbClr val="451A03"/>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950">
                <a:solidFill>
                  <a:srgbClr val="FBBF24"/>
                </a:solidFill>
              </a:defRPr>
            </a:pPr>
            <a:r>
              <a:t>INFORME EJECUTIVO DE ALTA DIRECCIÓN | SISTEMA VAFI</a:t>
            </a:r>
          </a:p>
        </p:txBody>
      </p:sp>
      <p:sp>
        <p:nvSpPr>
          <p:cNvPr id="5" name="TextBox 4"/>
          <p:cNvSpPr txBox="1"/>
          <p:nvPr/>
        </p:nvSpPr>
        <p:spPr>
          <a:xfrm>
            <a:off x="1645920" y="2057400"/>
            <a:ext cx="8869680" cy="2377440"/>
          </a:xfrm>
          <a:prstGeom prst="rect">
            <a:avLst/>
          </a:prstGeom>
          <a:noFill/>
        </p:spPr>
        <p:txBody>
          <a:bodyPr wrap="square">
            <a:spAutoFit/>
          </a:bodyPr>
          <a:lstStyle/>
          <a:p>
            <a:pPr>
              <a:defRPr b="1" sz="2800">
                <a:solidFill>
                  <a:srgbClr val="FFFFFF"/>
                </a:solidFill>
              </a:defRPr>
            </a:pPr>
            <a:r>
              <a:t>PROYECCIÓN PRESUPUESTAL INSTITUCIONAL</a:t>
            </a:r>
          </a:p>
          <a:p>
            <a:pPr>
              <a:spcBef>
                <a:spcPts val="800"/>
              </a:spcBef>
              <a:defRPr sz="1400">
                <a:solidFill>
                  <a:srgbClr val="CBD5E1"/>
                </a:solidFill>
              </a:defRPr>
            </a:pPr>
            <a:r>
              <a:t>Análisis histórico, metodología econométrica y resultados proyectados para la vigencia 2027</a:t>
            </a:r>
          </a:p>
          <a:p>
            <a:pPr>
              <a:spcBef>
                <a:spcPts val="800"/>
              </a:spcBef>
              <a:defRPr sz="850">
                <a:solidFill>
                  <a:srgbClr val="334155"/>
                </a:solidFill>
              </a:defRPr>
            </a:pPr>
            <a:r>
              <a:t>─────────────────────────────────────────────────────────────────────────────</a:t>
            </a:r>
          </a:p>
          <a:p>
            <a:pPr>
              <a:spcBef>
                <a:spcPts val="600"/>
              </a:spcBef>
              <a:defRPr b="1" sz="1150">
                <a:solidFill>
                  <a:srgbClr val="D97706"/>
                </a:solidFill>
              </a:defRPr>
            </a:pPr>
            <a:r>
              <a:t>Universidad Pedagógica y Tecnológica de Colombia – UPTC</a:t>
            </a:r>
            <a:br/>
            <a:r>
              <a:t>Vicerrectoría Administrativa y Financiera (VAFI)</a:t>
            </a:r>
          </a:p>
        </p:txBody>
      </p:sp>
      <p:sp>
        <p:nvSpPr>
          <p:cNvPr id="6" name="Rounded Rectangle 5"/>
          <p:cNvSpPr/>
          <p:nvPr/>
        </p:nvSpPr>
        <p:spPr>
          <a:xfrm>
            <a:off x="1645920" y="4572000"/>
            <a:ext cx="8869680" cy="7772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4663440"/>
            <a:ext cx="8503920" cy="594360"/>
          </a:xfrm>
          <a:prstGeom prst="rect">
            <a:avLst/>
          </a:prstGeom>
          <a:noFill/>
        </p:spPr>
        <p:txBody>
          <a:bodyPr wrap="square">
            <a:spAutoFit/>
          </a:bodyPr>
          <a:lstStyle/>
          <a:p>
            <a:pPr algn="ctr">
              <a:defRPr sz="950">
                <a:solidFill>
                  <a:srgbClr val="94A3B8"/>
                </a:solidFill>
              </a:defRPr>
            </a:pPr>
            <a:r>
              <a:t>Horizonte Histórico: 2024 – 2026   |   Vigencia Meta: 2027   |   Total Modelado: $493.139,5 Millones COP   |   Fecha: Octubre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01. CONTEXTO GENERAL | MENSAJE EJECUTIVO</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La proyección parte del comportamiento histórico y traduce sus determinantes en un escenario financiero futuro</a:t>
            </a:r>
          </a:p>
          <a:p>
            <a:pPr>
              <a:spcBef>
                <a:spcPts val="200"/>
              </a:spcBef>
              <a:defRPr sz="1050">
                <a:solidFill>
                  <a:srgbClr val="64748B"/>
                </a:solidFill>
              </a:defRPr>
            </a:pPr>
            <a:r>
              <a:t>Síntesis cuantitativa del modelo presupuestal institucional UPTC para la vigencia 2027</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02 / 16</a:t>
            </a:r>
          </a:p>
        </p:txBody>
      </p:sp>
      <p:sp>
        <p:nvSpPr>
          <p:cNvPr id="6" name="Rounded Rectangle 5"/>
          <p:cNvSpPr/>
          <p:nvPr/>
        </p:nvSpPr>
        <p:spPr>
          <a:xfrm>
            <a:off x="731520" y="1600200"/>
            <a:ext cx="2514600" cy="1234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00200"/>
            <a:ext cx="251460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28216"/>
            <a:ext cx="2221992" cy="1005840"/>
          </a:xfrm>
          <a:prstGeom prst="rect">
            <a:avLst/>
          </a:prstGeom>
          <a:noFill/>
        </p:spPr>
        <p:txBody>
          <a:bodyPr wrap="square" lIns="0" tIns="0" rIns="0" bIns="0">
            <a:spAutoFit/>
          </a:bodyPr>
          <a:lstStyle/>
          <a:p>
            <a:pPr>
              <a:defRPr b="1" sz="1900">
                <a:solidFill>
                  <a:srgbClr val="0F172A"/>
                </a:solidFill>
              </a:defRPr>
            </a:pPr>
            <a:r>
              <a:t>$ 463.582,5 M</a:t>
            </a:r>
          </a:p>
          <a:p>
            <a:pPr>
              <a:spcBef>
                <a:spcPts val="200"/>
              </a:spcBef>
              <a:defRPr b="1" sz="850">
                <a:solidFill>
                  <a:srgbClr val="2563EB"/>
                </a:solidFill>
              </a:defRPr>
            </a:pPr>
            <a:r>
              <a:t>PRESUPUESTO BASE 2026</a:t>
            </a:r>
          </a:p>
          <a:p>
            <a:pPr>
              <a:spcBef>
                <a:spcPts val="200"/>
              </a:spcBef>
              <a:defRPr sz="800">
                <a:solidFill>
                  <a:srgbClr val="64748B"/>
                </a:solidFill>
              </a:defRPr>
            </a:pPr>
            <a:r>
              <a:t>Línea base institucional consolidada</a:t>
            </a:r>
          </a:p>
        </p:txBody>
      </p:sp>
      <p:sp>
        <p:nvSpPr>
          <p:cNvPr id="9" name="Rounded Rectangle 8"/>
          <p:cNvSpPr/>
          <p:nvPr/>
        </p:nvSpPr>
        <p:spPr>
          <a:xfrm>
            <a:off x="3429000" y="1600200"/>
            <a:ext cx="2514600" cy="1234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29000" y="1600200"/>
            <a:ext cx="251460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75304" y="1728216"/>
            <a:ext cx="2221992" cy="1005840"/>
          </a:xfrm>
          <a:prstGeom prst="rect">
            <a:avLst/>
          </a:prstGeom>
          <a:noFill/>
        </p:spPr>
        <p:txBody>
          <a:bodyPr wrap="square" lIns="0" tIns="0" rIns="0" bIns="0">
            <a:spAutoFit/>
          </a:bodyPr>
          <a:lstStyle/>
          <a:p>
            <a:pPr>
              <a:defRPr b="1" sz="1900">
                <a:solidFill>
                  <a:srgbClr val="0F172A"/>
                </a:solidFill>
              </a:defRPr>
            </a:pPr>
            <a:r>
              <a:t>$ 493.139,5 M</a:t>
            </a:r>
          </a:p>
          <a:p>
            <a:pPr>
              <a:spcBef>
                <a:spcPts val="200"/>
              </a:spcBef>
              <a:defRPr b="1" sz="850">
                <a:solidFill>
                  <a:srgbClr val="D97706"/>
                </a:solidFill>
              </a:defRPr>
            </a:pPr>
            <a:r>
              <a:t>PROYECCIÓN META 2027</a:t>
            </a:r>
          </a:p>
          <a:p>
            <a:pPr>
              <a:spcBef>
                <a:spcPts val="200"/>
              </a:spcBef>
              <a:defRPr sz="800">
                <a:solidFill>
                  <a:srgbClr val="64748B"/>
                </a:solidFill>
              </a:defRPr>
            </a:pPr>
            <a:r>
              <a:t>+$29.557,0 M COP de incremento nominal</a:t>
            </a:r>
          </a:p>
        </p:txBody>
      </p:sp>
      <p:sp>
        <p:nvSpPr>
          <p:cNvPr id="12" name="Rounded Rectangle 11"/>
          <p:cNvSpPr/>
          <p:nvPr/>
        </p:nvSpPr>
        <p:spPr>
          <a:xfrm>
            <a:off x="6126480" y="1600200"/>
            <a:ext cx="2514600" cy="1234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6480" y="1600200"/>
            <a:ext cx="251460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2784" y="1728216"/>
            <a:ext cx="2221992" cy="1005840"/>
          </a:xfrm>
          <a:prstGeom prst="rect">
            <a:avLst/>
          </a:prstGeom>
          <a:noFill/>
        </p:spPr>
        <p:txBody>
          <a:bodyPr wrap="square" lIns="0" tIns="0" rIns="0" bIns="0">
            <a:spAutoFit/>
          </a:bodyPr>
          <a:lstStyle/>
          <a:p>
            <a:pPr>
              <a:defRPr b="1" sz="1900">
                <a:solidFill>
                  <a:srgbClr val="0F172A"/>
                </a:solidFill>
              </a:defRPr>
            </a:pPr>
            <a:r>
              <a:t>+6,38%</a:t>
            </a:r>
          </a:p>
          <a:p>
            <a:pPr>
              <a:spcBef>
                <a:spcPts val="200"/>
              </a:spcBef>
              <a:defRPr b="1" sz="850">
                <a:solidFill>
                  <a:srgbClr val="10B981"/>
                </a:solidFill>
              </a:defRPr>
            </a:pPr>
            <a:r>
              <a:t>VARIACIÓN CONSOLIDADA</a:t>
            </a:r>
          </a:p>
          <a:p>
            <a:pPr>
              <a:spcBef>
                <a:spcPts val="200"/>
              </a:spcBef>
              <a:defRPr sz="800">
                <a:solidFill>
                  <a:srgbClr val="64748B"/>
                </a:solidFill>
              </a:defRPr>
            </a:pPr>
            <a:r>
              <a:t>Tasa armónica con parámetros macro</a:t>
            </a:r>
          </a:p>
        </p:txBody>
      </p:sp>
      <p:sp>
        <p:nvSpPr>
          <p:cNvPr id="15" name="Rounded Rectangle 14"/>
          <p:cNvSpPr/>
          <p:nvPr/>
        </p:nvSpPr>
        <p:spPr>
          <a:xfrm>
            <a:off x="8823960" y="1600200"/>
            <a:ext cx="2633472" cy="1234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823960" y="1600200"/>
            <a:ext cx="2633472" cy="54864"/>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0264" y="1728216"/>
            <a:ext cx="2340864" cy="1005840"/>
          </a:xfrm>
          <a:prstGeom prst="rect">
            <a:avLst/>
          </a:prstGeom>
          <a:noFill/>
        </p:spPr>
        <p:txBody>
          <a:bodyPr wrap="square" lIns="0" tIns="0" rIns="0" bIns="0">
            <a:spAutoFit/>
          </a:bodyPr>
          <a:lstStyle/>
          <a:p>
            <a:pPr>
              <a:defRPr b="1" sz="1900">
                <a:solidFill>
                  <a:srgbClr val="0F172A"/>
                </a:solidFill>
              </a:defRPr>
            </a:pPr>
            <a:r>
              <a:t>19 Conceptos</a:t>
            </a:r>
          </a:p>
          <a:p>
            <a:pPr>
              <a:spcBef>
                <a:spcPts val="200"/>
              </a:spcBef>
              <a:defRPr b="1" sz="850">
                <a:solidFill>
                  <a:srgbClr val="9333EA"/>
                </a:solidFill>
              </a:defRPr>
            </a:pPr>
            <a:r>
              <a:t>COBERTURA DEL MODELO</a:t>
            </a:r>
          </a:p>
          <a:p>
            <a:pPr>
              <a:spcBef>
                <a:spcPts val="200"/>
              </a:spcBef>
              <a:defRPr sz="800">
                <a:solidFill>
                  <a:srgbClr val="64748B"/>
                </a:solidFill>
              </a:defRPr>
            </a:pPr>
            <a:r>
              <a:t>4 Grupos normativos / 10 Recursos</a:t>
            </a:r>
          </a:p>
        </p:txBody>
      </p:sp>
      <p:sp>
        <p:nvSpPr>
          <p:cNvPr id="18" name="Rounded Rectangle 17"/>
          <p:cNvSpPr/>
          <p:nvPr/>
        </p:nvSpPr>
        <p:spPr>
          <a:xfrm>
            <a:off x="731520" y="3017520"/>
            <a:ext cx="3429000" cy="3063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017520"/>
            <a:ext cx="34290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200400"/>
            <a:ext cx="3063240" cy="2743200"/>
          </a:xfrm>
          <a:prstGeom prst="rect">
            <a:avLst/>
          </a:prstGeom>
          <a:noFill/>
        </p:spPr>
        <p:txBody>
          <a:bodyPr wrap="square">
            <a:spAutoFit/>
          </a:bodyPr>
          <a:lstStyle/>
          <a:p>
            <a:pPr>
              <a:defRPr b="1" sz="1100">
                <a:solidFill>
                  <a:srgbClr val="2563EB"/>
                </a:solidFill>
              </a:defRPr>
            </a:pPr>
            <a:r>
              <a:t>1. COMPORTAMIENTO HISTÓRICO</a:t>
            </a:r>
          </a:p>
          <a:p>
            <a:pPr>
              <a:spcBef>
                <a:spcPts val="600"/>
              </a:spcBef>
              <a:defRPr sz="950">
                <a:solidFill>
                  <a:srgbClr val="0F172A"/>
                </a:solidFill>
              </a:defRPr>
            </a:pPr>
            <a:r>
              <a:t>• Expansión acumulada de +36,6% entre 2024 y 2026 ($339.349M → $463.582M).</a:t>
            </a:r>
          </a:p>
          <a:p>
            <a:pPr>
              <a:spcBef>
                <a:spcPts val="400"/>
              </a:spcBef>
              <a:defRPr sz="950">
                <a:solidFill>
                  <a:srgbClr val="64748B"/>
                </a:solidFill>
              </a:defRPr>
            </a:pPr>
            <a:r>
              <a:t>• Impulsada por dos factores estructurales: la implementación de la Política de Gratuidad (Ley 2307 / R14) y la nivelación de aportes de funcionamiento de la Nación (R10).</a:t>
            </a:r>
          </a:p>
          <a:p>
            <a:pPr>
              <a:spcBef>
                <a:spcPts val="600"/>
              </a:spcBef>
              <a:defRPr sz="950" b="1">
                <a:solidFill>
                  <a:srgbClr val="0F172A"/>
                </a:solidFill>
              </a:defRPr>
            </a:pPr>
            <a:r>
              <a:t>• Conclusión: El histórico refleja saltos normativos, no un crecimiento inercial constante.</a:t>
            </a:r>
          </a:p>
        </p:txBody>
      </p:sp>
      <p:sp>
        <p:nvSpPr>
          <p:cNvPr id="21" name="Rounded Rectangle 20"/>
          <p:cNvSpPr/>
          <p:nvPr/>
        </p:nvSpPr>
        <p:spPr>
          <a:xfrm>
            <a:off x="4389120" y="3017520"/>
            <a:ext cx="3429000" cy="3063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3017520"/>
            <a:ext cx="3429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3200400"/>
            <a:ext cx="3063240" cy="2743200"/>
          </a:xfrm>
          <a:prstGeom prst="rect">
            <a:avLst/>
          </a:prstGeom>
          <a:noFill/>
        </p:spPr>
        <p:txBody>
          <a:bodyPr wrap="square">
            <a:spAutoFit/>
          </a:bodyPr>
          <a:lstStyle/>
          <a:p>
            <a:pPr>
              <a:defRPr b="1" sz="1100">
                <a:solidFill>
                  <a:srgbClr val="D97706"/>
                </a:solidFill>
              </a:defRPr>
            </a:pPr>
            <a:r>
              <a:t>2. RESULTADOS DE PROYECCIÓN 2027</a:t>
            </a:r>
          </a:p>
          <a:p>
            <a:pPr>
              <a:spcBef>
                <a:spcPts val="600"/>
              </a:spcBef>
              <a:defRPr sz="950">
                <a:solidFill>
                  <a:srgbClr val="0F172A"/>
                </a:solidFill>
              </a:defRPr>
            </a:pPr>
            <a:r>
              <a:t>• El presupuesto 2027 alcanza $493.139,5 M COP con una variación nominal de +$29.557,0 M (+6,38%).</a:t>
            </a:r>
          </a:p>
          <a:p>
            <a:pPr>
              <a:spcBef>
                <a:spcPts val="400"/>
              </a:spcBef>
              <a:defRPr sz="950">
                <a:solidFill>
                  <a:srgbClr val="64748B"/>
                </a:solidFill>
              </a:defRPr>
            </a:pPr>
            <a:r>
              <a:t>• Se cumple al 100% el techo legal del Proyecto de Ley PGN 2027 ($395.704,6 M para funcionamiento en R10, R17 y R18).</a:t>
            </a:r>
          </a:p>
          <a:p>
            <a:pPr>
              <a:spcBef>
                <a:spcPts val="600"/>
              </a:spcBef>
              <a:defRPr sz="950" b="1">
                <a:solidFill>
                  <a:srgbClr val="0F172A"/>
                </a:solidFill>
              </a:defRPr>
            </a:pPr>
            <a:r>
              <a:t>• Conclusión: Escenario fiscalmente equilibrado que garantiza el pago de nómina y operación académica.</a:t>
            </a:r>
          </a:p>
        </p:txBody>
      </p:sp>
      <p:sp>
        <p:nvSpPr>
          <p:cNvPr id="24" name="Rounded Rectangle 23"/>
          <p:cNvSpPr/>
          <p:nvPr/>
        </p:nvSpPr>
        <p:spPr>
          <a:xfrm>
            <a:off x="8046720" y="3017520"/>
            <a:ext cx="3413455" cy="3063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0" y="3017520"/>
            <a:ext cx="341345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3200400"/>
            <a:ext cx="3047695" cy="2743200"/>
          </a:xfrm>
          <a:prstGeom prst="rect">
            <a:avLst/>
          </a:prstGeom>
          <a:noFill/>
        </p:spPr>
        <p:txBody>
          <a:bodyPr wrap="square">
            <a:spAutoFit/>
          </a:bodyPr>
          <a:lstStyle/>
          <a:p>
            <a:pPr>
              <a:defRPr b="1" sz="1100">
                <a:solidFill>
                  <a:srgbClr val="EF4444"/>
                </a:solidFill>
              </a:defRPr>
            </a:pPr>
            <a:r>
              <a:t>3. RIESGO &amp; VARIABLE DE CONTROL</a:t>
            </a:r>
          </a:p>
          <a:p>
            <a:pPr>
              <a:spcBef>
                <a:spcPts val="600"/>
              </a:spcBef>
              <a:defRPr sz="950">
                <a:solidFill>
                  <a:srgbClr val="0F172A"/>
                </a:solidFill>
              </a:defRPr>
            </a:pPr>
            <a:r>
              <a:t>• El 94,93% del presupuesto depende de transferencias del orden nacional ($468.126,4 M COP).</a:t>
            </a:r>
          </a:p>
          <a:p>
            <a:pPr>
              <a:spcBef>
                <a:spcPts val="400"/>
              </a:spcBef>
              <a:defRPr sz="950">
                <a:solidFill>
                  <a:srgbClr val="64748B"/>
                </a:solidFill>
              </a:defRPr>
            </a:pPr>
            <a:r>
              <a:t>• Riesgo clave: Retrasos en resoluciones y giros del Ministerio de Educación (especialmente FSE - Gratuidad R14).</a:t>
            </a:r>
          </a:p>
          <a:p>
            <a:pPr>
              <a:spcBef>
                <a:spcPts val="600"/>
              </a:spcBef>
              <a:defRPr sz="950" b="1">
                <a:solidFill>
                  <a:srgbClr val="0F172A"/>
                </a:solidFill>
              </a:defRPr>
            </a:pPr>
            <a:r>
              <a:t>• Mitigación: Sincronización estricta con el flujo de caja tesoral y protección de la liquidez en R20.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02. ALCANCE DEL MODELO | TAXONOMÍA PRESUPUESTAL</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El modelo consolida 19 conceptos presupuestales distribuidos en transferencias y autogestión</a:t>
            </a:r>
          </a:p>
          <a:p>
            <a:pPr>
              <a:spcBef>
                <a:spcPts val="200"/>
              </a:spcBef>
              <a:defRPr sz="1050">
                <a:solidFill>
                  <a:srgbClr val="64748B"/>
                </a:solidFill>
              </a:defRPr>
            </a:pPr>
            <a:r>
              <a:t>Arquitectura dual de ingresos: Financiamiento público central y capacidad generadora institucional</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03 / 16</a:t>
            </a:r>
          </a:p>
        </p:txBody>
      </p:sp>
      <p:sp>
        <p:nvSpPr>
          <p:cNvPr id="6" name="Rounded Rectangle 5"/>
          <p:cNvSpPr/>
          <p:nvPr/>
        </p:nvSpPr>
        <p:spPr>
          <a:xfrm>
            <a:off x="731520" y="1645920"/>
            <a:ext cx="6217920" cy="4434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621792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5852160" cy="4023360"/>
          </a:xfrm>
          <a:prstGeom prst="rect">
            <a:avLst/>
          </a:prstGeom>
          <a:noFill/>
        </p:spPr>
        <p:txBody>
          <a:bodyPr wrap="square">
            <a:spAutoFit/>
          </a:bodyPr>
          <a:lstStyle/>
          <a:p>
            <a:pPr>
              <a:defRPr b="1" sz="1200">
                <a:solidFill>
                  <a:srgbClr val="2563EB"/>
                </a:solidFill>
              </a:defRPr>
            </a:pPr>
            <a:r>
              <a:t>1. GIROS Y TRANSFERENCIAS DE LA NACIÓN (7 CONCEPTOS)</a:t>
            </a:r>
          </a:p>
          <a:p>
            <a:pPr>
              <a:spcBef>
                <a:spcPts val="300"/>
              </a:spcBef>
              <a:defRPr b="1" sz="950">
                <a:solidFill>
                  <a:srgbClr val="0F172A"/>
                </a:solidFill>
              </a:defRPr>
            </a:pPr>
            <a:r>
              <a:t>Total Proyectado: $ 468.126,4 M COP   |   Participación: 94,93%   |   Variación: +6,40%</a:t>
            </a:r>
          </a:p>
          <a:p>
            <a:pPr>
              <a:spcBef>
                <a:spcPts val="400"/>
              </a:spcBef>
              <a:defRPr sz="900">
                <a:solidFill>
                  <a:srgbClr val="0F172A"/>
                </a:solidFill>
              </a:defRPr>
            </a:pPr>
            <a:r>
              <a:t>• [R10] Aportes Funcionamiento Nación (Art. 86 Ley 30): $ 387.451,5 M (78,57%)</a:t>
            </a:r>
          </a:p>
          <a:p>
            <a:pPr>
              <a:spcBef>
                <a:spcPts val="400"/>
              </a:spcBef>
              <a:defRPr sz="900">
                <a:solidFill>
                  <a:srgbClr val="0F172A"/>
                </a:solidFill>
              </a:defRPr>
            </a:pPr>
            <a:r>
              <a:t>• [R14] Política de Gratuidad (Fondo Solidario - FSE): $ 52.834,8 M (10,71%)</a:t>
            </a:r>
          </a:p>
          <a:p>
            <a:pPr>
              <a:spcBef>
                <a:spcPts val="400"/>
              </a:spcBef>
              <a:defRPr sz="900">
                <a:solidFill>
                  <a:srgbClr val="0F172A"/>
                </a:solidFill>
              </a:defRPr>
            </a:pPr>
            <a:r>
              <a:t>• [R12] Estampilla Pro-UNAL y Demás Universidades: $ 9.556,9 M (1,94%)</a:t>
            </a:r>
          </a:p>
          <a:p>
            <a:pPr>
              <a:spcBef>
                <a:spcPts val="400"/>
              </a:spcBef>
              <a:defRPr sz="900">
                <a:solidFill>
                  <a:srgbClr val="0F172A"/>
                </a:solidFill>
              </a:defRPr>
            </a:pPr>
            <a:r>
              <a:t>• [R16] Aportes para Inversión (Ley PGN 2027): $ 8.311,0 M (1,69%)</a:t>
            </a:r>
          </a:p>
          <a:p>
            <a:pPr>
              <a:spcBef>
                <a:spcPts val="400"/>
              </a:spcBef>
              <a:defRPr sz="900">
                <a:solidFill>
                  <a:srgbClr val="0F172A"/>
                </a:solidFill>
              </a:defRPr>
            </a:pPr>
            <a:r>
              <a:t>• [R17] Devolución Descuento por Votación: $ 6.007,0 M (1,22%)</a:t>
            </a:r>
          </a:p>
          <a:p>
            <a:pPr>
              <a:spcBef>
                <a:spcPts val="400"/>
              </a:spcBef>
              <a:defRPr sz="900">
                <a:solidFill>
                  <a:srgbClr val="0F172A"/>
                </a:solidFill>
              </a:defRPr>
            </a:pPr>
            <a:r>
              <a:t>• [R18] Recursos Adicionales CESU (Art. 87 Ley 30): $ 2.246,1 M (0,46%)</a:t>
            </a:r>
          </a:p>
          <a:p>
            <a:pPr>
              <a:spcBef>
                <a:spcPts val="400"/>
              </a:spcBef>
              <a:defRPr sz="900">
                <a:solidFill>
                  <a:srgbClr val="0F172A"/>
                </a:solidFill>
              </a:defRPr>
            </a:pPr>
            <a:r>
              <a:t>• [R13] Excedentes Financieros Cooperativas (Ley 1819): $ 1.719,1 M (0,35%)</a:t>
            </a:r>
          </a:p>
        </p:txBody>
      </p:sp>
      <p:sp>
        <p:nvSpPr>
          <p:cNvPr id="9" name="Rounded Rectangle 8"/>
          <p:cNvSpPr/>
          <p:nvPr/>
        </p:nvSpPr>
        <p:spPr>
          <a:xfrm>
            <a:off x="7132320" y="1645920"/>
            <a:ext cx="4327855" cy="4434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645920"/>
            <a:ext cx="4327855"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1828800"/>
            <a:ext cx="3962095" cy="4023360"/>
          </a:xfrm>
          <a:prstGeom prst="rect">
            <a:avLst/>
          </a:prstGeom>
          <a:noFill/>
        </p:spPr>
        <p:txBody>
          <a:bodyPr wrap="square">
            <a:spAutoFit/>
          </a:bodyPr>
          <a:lstStyle/>
          <a:p>
            <a:pPr>
              <a:defRPr b="1" sz="1200">
                <a:solidFill>
                  <a:srgbClr val="D97706"/>
                </a:solidFill>
              </a:defRPr>
            </a:pPr>
            <a:r>
              <a:t>2. AUTOGESTIÓN INSTITUCIONAL (12 CONCEPTOS)</a:t>
            </a:r>
          </a:p>
          <a:p>
            <a:pPr>
              <a:spcBef>
                <a:spcPts val="300"/>
              </a:spcBef>
              <a:defRPr b="1" sz="950">
                <a:solidFill>
                  <a:srgbClr val="0F172A"/>
                </a:solidFill>
              </a:defRPr>
            </a:pPr>
            <a:r>
              <a:t>Total Proyectado: $ 25.013,1 M COP   |   Participación: 5,07%   |   Variación: +6,00%</a:t>
            </a:r>
          </a:p>
          <a:p>
            <a:pPr>
              <a:spcBef>
                <a:spcPts val="600"/>
              </a:spcBef>
              <a:defRPr b="1" sz="900">
                <a:solidFill>
                  <a:srgbClr val="1E293B"/>
                </a:solidFill>
              </a:defRPr>
            </a:pPr>
            <a:r>
              <a:t>▶ RECURSOS PROPIOS (R20 - 10 Conceptos): $ 13.979,1 M (2,83%)</a:t>
            </a:r>
          </a:p>
          <a:p>
            <a:pPr>
              <a:spcBef>
                <a:spcPts val="100"/>
              </a:spcBef>
              <a:defRPr sz="850">
                <a:solidFill>
                  <a:srgbClr val="64748B"/>
                </a:solidFill>
              </a:defRPr>
            </a:pPr>
            <a:r>
              <a:t>   – Matrículas de no gratuidad y posgrados</a:t>
            </a:r>
          </a:p>
          <a:p>
            <a:pPr>
              <a:spcBef>
                <a:spcPts val="100"/>
              </a:spcBef>
              <a:defRPr sz="850">
                <a:solidFill>
                  <a:srgbClr val="64748B"/>
                </a:solidFill>
              </a:defRPr>
            </a:pPr>
            <a:r>
              <a:t>   – Derechos de grado, certificaciones e inscripciones</a:t>
            </a:r>
          </a:p>
          <a:p>
            <a:pPr>
              <a:spcBef>
                <a:spcPts val="100"/>
              </a:spcBef>
              <a:defRPr sz="850">
                <a:solidFill>
                  <a:srgbClr val="64748B"/>
                </a:solidFill>
              </a:defRPr>
            </a:pPr>
            <a:r>
              <a:t>   – Venta de bienes, servicios y rendimientos</a:t>
            </a:r>
          </a:p>
          <a:p>
            <a:pPr>
              <a:spcBef>
                <a:spcPts val="600"/>
              </a:spcBef>
              <a:defRPr b="1" sz="900">
                <a:solidFill>
                  <a:srgbClr val="1E293B"/>
                </a:solidFill>
              </a:defRPr>
            </a:pPr>
            <a:r>
              <a:t>▶ ESTAMPILLA PRO-UPTC (R40 - 1 Concepto): $ 6.081,5 M (1,23%)</a:t>
            </a:r>
          </a:p>
          <a:p>
            <a:pPr>
              <a:spcBef>
                <a:spcPts val="100"/>
              </a:spcBef>
              <a:defRPr sz="850">
                <a:solidFill>
                  <a:srgbClr val="64748B"/>
                </a:solidFill>
              </a:defRPr>
            </a:pPr>
            <a:r>
              <a:t>   – Tributo departamental Ley 169/1994 y Ordenanzas Boyacá</a:t>
            </a:r>
          </a:p>
          <a:p>
            <a:pPr>
              <a:spcBef>
                <a:spcPts val="600"/>
              </a:spcBef>
              <a:defRPr b="1" sz="900">
                <a:solidFill>
                  <a:srgbClr val="1E293B"/>
                </a:solidFill>
              </a:defRPr>
            </a:pPr>
            <a:r>
              <a:t>▶ DEVOLUCIÓN IVA (R21 - 1 Concepto): $ 4.952,6 M (1,00%)</a:t>
            </a:r>
          </a:p>
          <a:p>
            <a:pPr>
              <a:spcBef>
                <a:spcPts val="100"/>
              </a:spcBef>
              <a:defRPr sz="850">
                <a:solidFill>
                  <a:srgbClr val="64748B"/>
                </a:solidFill>
              </a:defRPr>
            </a:pPr>
            <a:r>
              <a:t>   – Beneficio tributario Art. 92 Ley 30 de 1992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03. EVOLUCIÓN HISTÓRICA | TENDENCIA 2024–2026</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La trayectoria histórica muestra una expansión sostenida impulsada por gratuidad e indexaciones</a:t>
            </a:r>
          </a:p>
          <a:p>
            <a:pPr>
              <a:spcBef>
                <a:spcPts val="200"/>
              </a:spcBef>
              <a:defRPr sz="1050">
                <a:solidFill>
                  <a:srgbClr val="64748B"/>
                </a:solidFill>
              </a:defRPr>
            </a:pPr>
            <a:r>
              <a:t>Comportamiento de ingresos consolidados en los tres últimos periodos fiscales auditados</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04 / 16</a:t>
            </a:r>
          </a:p>
        </p:txBody>
      </p:sp>
      <p:graphicFrame>
        <p:nvGraphicFramePr>
          <p:cNvPr id="6" name="Chart 5"/>
          <p:cNvGraphicFramePr>
            <a:graphicFrameLocks noGrp="1"/>
          </p:cNvGraphicFramePr>
          <p:nvPr/>
        </p:nvGraphicFramePr>
        <p:xfrm>
          <a:off x="731520" y="1691640"/>
          <a:ext cx="6217920" cy="4343400"/>
        </p:xfrm>
        <a:graphic>
          <a:graphicData uri="http://schemas.openxmlformats.org/drawingml/2006/chart">
            <c:chart xmlns:c="http://schemas.openxmlformats.org/drawingml/2006/chart" r:id="rId2"/>
          </a:graphicData>
        </a:graphic>
      </p:graphicFrame>
      <p:sp>
        <p:nvSpPr>
          <p:cNvPr id="7" name="Rounded Rectangle 6"/>
          <p:cNvSpPr/>
          <p:nvPr/>
        </p:nvSpPr>
        <p:spPr>
          <a:xfrm>
            <a:off x="7132320" y="1691640"/>
            <a:ext cx="4327855"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3962095" cy="4023360"/>
          </a:xfrm>
          <a:prstGeom prst="rect">
            <a:avLst/>
          </a:prstGeom>
          <a:noFill/>
        </p:spPr>
        <p:txBody>
          <a:bodyPr wrap="square">
            <a:spAutoFit/>
          </a:bodyPr>
          <a:lstStyle/>
          <a:p>
            <a:pPr>
              <a:defRPr b="1" sz="1200">
                <a:solidFill>
                  <a:srgbClr val="D97706"/>
                </a:solidFill>
              </a:defRPr>
            </a:pPr>
            <a:r>
              <a:t>ANÁLISIS DE LA SERIE HISTÓRICA</a:t>
            </a:r>
          </a:p>
          <a:p>
            <a:pPr>
              <a:spcBef>
                <a:spcPts val="800"/>
              </a:spcBef>
              <a:defRPr b="1" sz="1000">
                <a:solidFill>
                  <a:srgbClr val="2563EB"/>
                </a:solidFill>
              </a:defRPr>
            </a:pPr>
            <a:r>
              <a:t>1. Crecimiento Bianual 2024–2026: +36,6%</a:t>
            </a:r>
          </a:p>
          <a:p>
            <a:pPr>
              <a:spcBef>
                <a:spcPts val="200"/>
              </a:spcBef>
              <a:defRPr sz="900">
                <a:solidFill>
                  <a:srgbClr val="64748B"/>
                </a:solidFill>
              </a:defRPr>
            </a:pPr>
            <a:r>
              <a:t>El presupuesto creció en +$124.233,4 M en dos años, pasando de $339.349M en 2024 a $463.582M en 2026.</a:t>
            </a:r>
          </a:p>
          <a:p>
            <a:pPr>
              <a:spcBef>
                <a:spcPts val="800"/>
              </a:spcBef>
              <a:defRPr b="1" sz="1000">
                <a:solidFill>
                  <a:srgbClr val="D97706"/>
                </a:solidFill>
              </a:defRPr>
            </a:pPr>
            <a:r>
              <a:t>2. Punto de Inflexión Estructural (2025–2026)</a:t>
            </a:r>
          </a:p>
          <a:p>
            <a:pPr>
              <a:spcBef>
                <a:spcPts val="200"/>
              </a:spcBef>
              <a:defRPr sz="900">
                <a:solidFill>
                  <a:srgbClr val="64748B"/>
                </a:solidFill>
              </a:defRPr>
            </a:pPr>
            <a:r>
              <a:t>El salto del +22,1% entre 2025 y 2026 obedeció a la universalización de la gratuidad (FSE pasó de $36.210M a $49.844M) y el ajuste a la base salarial de aportes de la Nación.</a:t>
            </a:r>
          </a:p>
          <a:p>
            <a:pPr>
              <a:spcBef>
                <a:spcPts val="800"/>
              </a:spcBef>
              <a:defRPr b="1" sz="1000">
                <a:solidFill>
                  <a:srgbClr val="10B981"/>
                </a:solidFill>
              </a:defRPr>
            </a:pPr>
            <a:r>
              <a:t>3. Transición hacia 2027 (+6,38%)</a:t>
            </a:r>
          </a:p>
          <a:p>
            <a:pPr>
              <a:spcBef>
                <a:spcPts val="200"/>
              </a:spcBef>
              <a:defRPr sz="900">
                <a:solidFill>
                  <a:srgbClr val="64748B"/>
                </a:solidFill>
              </a:defRPr>
            </a:pPr>
            <a:r>
              <a:t>Frente a la expansión atípica del pasado, la proyección 2027 adopta una senda inercial prudente (+6,38%), alineada a las expectativas macroeconómicas de inflación salarial del Estado.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04. DETERMINANTES ESTRUCTURALES | ANÁLISIS CAUSAL</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Cinco inductores normativos y operativos explican la dinámica de los ingresos institucionales</a:t>
            </a:r>
          </a:p>
          <a:p>
            <a:pPr>
              <a:spcBef>
                <a:spcPts val="200"/>
              </a:spcBef>
              <a:defRPr sz="1050">
                <a:solidFill>
                  <a:srgbClr val="64748B"/>
                </a:solidFill>
              </a:defRPr>
            </a:pPr>
            <a:r>
              <a:t>Identificación de las fuerzas motrices que gobiernan cada fuente presupuestal de la UPTC</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05 / 16</a:t>
            </a:r>
          </a:p>
        </p:txBody>
      </p:sp>
      <p:sp>
        <p:nvSpPr>
          <p:cNvPr id="6" name="Rounded Rectangle 5"/>
          <p:cNvSpPr/>
          <p:nvPr/>
        </p:nvSpPr>
        <p:spPr>
          <a:xfrm>
            <a:off x="731520" y="1691640"/>
            <a:ext cx="2029968"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2029968"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874519"/>
            <a:ext cx="1810512" cy="4023360"/>
          </a:xfrm>
          <a:prstGeom prst="rect">
            <a:avLst/>
          </a:prstGeom>
          <a:noFill/>
        </p:spPr>
        <p:txBody>
          <a:bodyPr wrap="square">
            <a:spAutoFit/>
          </a:bodyPr>
          <a:lstStyle/>
          <a:p>
            <a:pPr>
              <a:defRPr b="1" sz="1050">
                <a:solidFill>
                  <a:srgbClr val="2563EB"/>
                </a:solidFill>
              </a:defRPr>
            </a:pPr>
            <a:r>
              <a:t>1. Indexación PGN y Decretos Salariales</a:t>
            </a:r>
          </a:p>
          <a:p>
            <a:pPr>
              <a:spcBef>
                <a:spcPts val="400"/>
              </a:spcBef>
              <a:defRPr b="1" sz="800">
                <a:solidFill>
                  <a:srgbClr val="1E293B"/>
                </a:solidFill>
              </a:defRPr>
            </a:pPr>
            <a:r>
              <a:t>Art. 86 Ley 30 / Decretos de Empleados Públicos</a:t>
            </a:r>
          </a:p>
          <a:p>
            <a:pPr>
              <a:spcBef>
                <a:spcPts val="800"/>
              </a:spcBef>
              <a:defRPr sz="850">
                <a:solidFill>
                  <a:srgbClr val="64748B"/>
                </a:solidFill>
              </a:defRPr>
            </a:pPr>
            <a:r>
              <a:t>Rige el 78,6% del presupuesto (R10). El Gobierno ajusta la base con IPC más puntos salariales pactados con las centrales obreras y el sistema universitario estatal.</a:t>
            </a:r>
          </a:p>
        </p:txBody>
      </p:sp>
      <p:sp>
        <p:nvSpPr>
          <p:cNvPr id="9" name="Rounded Rectangle 8"/>
          <p:cNvSpPr/>
          <p:nvPr/>
        </p:nvSpPr>
        <p:spPr>
          <a:xfrm>
            <a:off x="2907792" y="1691640"/>
            <a:ext cx="2029968"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07792" y="1691640"/>
            <a:ext cx="2029968"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1874519"/>
            <a:ext cx="1810512" cy="4023360"/>
          </a:xfrm>
          <a:prstGeom prst="rect">
            <a:avLst/>
          </a:prstGeom>
          <a:noFill/>
        </p:spPr>
        <p:txBody>
          <a:bodyPr wrap="square">
            <a:spAutoFit/>
          </a:bodyPr>
          <a:lstStyle/>
          <a:p>
            <a:pPr>
              <a:defRPr b="1" sz="1050">
                <a:solidFill>
                  <a:srgbClr val="D97706"/>
                </a:solidFill>
              </a:defRPr>
            </a:pPr>
            <a:r>
              <a:t>2. Política de Gratuidad (Ley 2307)</a:t>
            </a:r>
          </a:p>
          <a:p>
            <a:pPr>
              <a:spcBef>
                <a:spcPts val="400"/>
              </a:spcBef>
              <a:defRPr b="1" sz="800">
                <a:solidFill>
                  <a:srgbClr val="1E293B"/>
                </a:solidFill>
              </a:defRPr>
            </a:pPr>
            <a:r>
              <a:t>Fondo Solidario para la Educación (FSE - R14)</a:t>
            </a:r>
          </a:p>
          <a:p>
            <a:pPr>
              <a:spcBef>
                <a:spcPts val="800"/>
              </a:spcBef>
              <a:defRPr sz="850">
                <a:solidFill>
                  <a:srgbClr val="64748B"/>
                </a:solidFill>
              </a:defRPr>
            </a:pPr>
            <a:r>
              <a:t>Transformación radical: Los recursos antes cobrados a las familias ahora se giran directamente desde el MEN. Explica el 10,7% del presupuesto institucional.</a:t>
            </a:r>
          </a:p>
        </p:txBody>
      </p:sp>
      <p:sp>
        <p:nvSpPr>
          <p:cNvPr id="12" name="Rounded Rectangle 11"/>
          <p:cNvSpPr/>
          <p:nvPr/>
        </p:nvSpPr>
        <p:spPr>
          <a:xfrm>
            <a:off x="5084064" y="1691640"/>
            <a:ext cx="2029968"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84064" y="1691640"/>
            <a:ext cx="2029968"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93792" y="1874519"/>
            <a:ext cx="1810512" cy="4023360"/>
          </a:xfrm>
          <a:prstGeom prst="rect">
            <a:avLst/>
          </a:prstGeom>
          <a:noFill/>
        </p:spPr>
        <p:txBody>
          <a:bodyPr wrap="square">
            <a:spAutoFit/>
          </a:bodyPr>
          <a:lstStyle/>
          <a:p>
            <a:pPr>
              <a:defRPr b="1" sz="1050">
                <a:solidFill>
                  <a:srgbClr val="9333EA"/>
                </a:solidFill>
              </a:defRPr>
            </a:pPr>
            <a:r>
              <a:t>3. Matrícula y Derechos Académicos</a:t>
            </a:r>
          </a:p>
          <a:p>
            <a:pPr>
              <a:spcBef>
                <a:spcPts val="400"/>
              </a:spcBef>
              <a:defRPr b="1" sz="800">
                <a:solidFill>
                  <a:srgbClr val="1E293B"/>
                </a:solidFill>
              </a:defRPr>
            </a:pPr>
            <a:r>
              <a:t>Recursos Propios Académicos (R20)</a:t>
            </a:r>
          </a:p>
          <a:p>
            <a:pPr>
              <a:spcBef>
                <a:spcPts val="800"/>
              </a:spcBef>
              <a:defRPr sz="850">
                <a:solidFill>
                  <a:srgbClr val="64748B"/>
                </a:solidFill>
              </a:defRPr>
            </a:pPr>
            <a:r>
              <a:t>Comportamiento de estudiantes no cubiertos por gratuidad, inscripciones, derechos de grado y programas de posgrado con dinámica de mercado propia.</a:t>
            </a:r>
          </a:p>
        </p:txBody>
      </p:sp>
      <p:sp>
        <p:nvSpPr>
          <p:cNvPr id="15" name="Rounded Rectangle 14"/>
          <p:cNvSpPr/>
          <p:nvPr/>
        </p:nvSpPr>
        <p:spPr>
          <a:xfrm>
            <a:off x="7260336" y="1691640"/>
            <a:ext cx="2029968"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0336" y="1691640"/>
            <a:ext cx="2029968"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70064" y="1874519"/>
            <a:ext cx="1810512" cy="4023360"/>
          </a:xfrm>
          <a:prstGeom prst="rect">
            <a:avLst/>
          </a:prstGeom>
          <a:noFill/>
        </p:spPr>
        <p:txBody>
          <a:bodyPr wrap="square">
            <a:spAutoFit/>
          </a:bodyPr>
          <a:lstStyle/>
          <a:p>
            <a:pPr>
              <a:defRPr b="1" sz="1050">
                <a:solidFill>
                  <a:srgbClr val="10B981"/>
                </a:solidFill>
              </a:defRPr>
            </a:pPr>
            <a:r>
              <a:t>4. Devolución de IVA DIAN (Beneficio Tributario)</a:t>
            </a:r>
          </a:p>
          <a:p>
            <a:pPr>
              <a:spcBef>
                <a:spcPts val="400"/>
              </a:spcBef>
              <a:defRPr b="1" sz="800">
                <a:solidFill>
                  <a:srgbClr val="1E293B"/>
                </a:solidFill>
              </a:defRPr>
            </a:pPr>
            <a:r>
              <a:t>Art. 92 Ley 30 de 1992 (R21)</a:t>
            </a:r>
          </a:p>
          <a:p>
            <a:pPr>
              <a:spcBef>
                <a:spcPts val="800"/>
              </a:spcBef>
              <a:defRPr sz="850">
                <a:solidFill>
                  <a:srgbClr val="64748B"/>
                </a:solidFill>
              </a:defRPr>
            </a:pPr>
            <a:r>
              <a:t>Las IES públicas recuperan el IVA pagado en adquisiciones. Los altibajos históricos responden a tiempos de resolución y liquidación de solicitudes acumuladas ante la DIAN.</a:t>
            </a:r>
          </a:p>
        </p:txBody>
      </p:sp>
      <p:sp>
        <p:nvSpPr>
          <p:cNvPr id="18" name="Rounded Rectangle 17"/>
          <p:cNvSpPr/>
          <p:nvPr/>
        </p:nvSpPr>
        <p:spPr>
          <a:xfrm>
            <a:off x="9436608" y="1691640"/>
            <a:ext cx="2029968"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36608" y="1691640"/>
            <a:ext cx="2029968"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46336" y="1874519"/>
            <a:ext cx="1810512" cy="4023360"/>
          </a:xfrm>
          <a:prstGeom prst="rect">
            <a:avLst/>
          </a:prstGeom>
          <a:noFill/>
        </p:spPr>
        <p:txBody>
          <a:bodyPr wrap="square">
            <a:spAutoFit/>
          </a:bodyPr>
          <a:lstStyle/>
          <a:p>
            <a:pPr>
              <a:defRPr b="1" sz="1050">
                <a:solidFill>
                  <a:srgbClr val="EF4444"/>
                </a:solidFill>
              </a:defRPr>
            </a:pPr>
            <a:r>
              <a:t>5. Actividad Económica Territorial</a:t>
            </a:r>
          </a:p>
          <a:p>
            <a:pPr>
              <a:spcBef>
                <a:spcPts val="400"/>
              </a:spcBef>
              <a:defRPr b="1" sz="800">
                <a:solidFill>
                  <a:srgbClr val="1E293B"/>
                </a:solidFill>
              </a:defRPr>
            </a:pPr>
            <a:r>
              <a:t>Estampilla Pro-UPTC Departamental (R40)</a:t>
            </a:r>
          </a:p>
          <a:p>
            <a:pPr>
              <a:spcBef>
                <a:spcPts val="800"/>
              </a:spcBef>
              <a:defRPr sz="850">
                <a:solidFill>
                  <a:srgbClr val="64748B"/>
                </a:solidFill>
              </a:defRPr>
            </a:pPr>
            <a:r>
              <a:t>Recaudo ligado al volumen de contratación pública y presupuesto del Departamento de Boyacá; presenta resiliencia con crecimiento tendencial del +9,05% CAGR.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05. METODOLOGÍA | FLUJO DE MODELACIÓN</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La metodología combina comportamiento histórico, parámetros macroeconómicos y validación legal</a:t>
            </a:r>
          </a:p>
          <a:p>
            <a:pPr>
              <a:spcBef>
                <a:spcPts val="200"/>
              </a:spcBef>
              <a:defRPr sz="1050">
                <a:solidFill>
                  <a:srgbClr val="64748B"/>
                </a:solidFill>
              </a:defRPr>
            </a:pPr>
            <a:r>
              <a:t>Pipeline riguroso de modelación financiera aplicado a cada uno de los 19 conceptos presupuestales</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06 / 16</a:t>
            </a:r>
          </a:p>
        </p:txBody>
      </p:sp>
      <p:sp>
        <p:nvSpPr>
          <p:cNvPr id="6" name="Rounded Rectangle 5"/>
          <p:cNvSpPr/>
          <p:nvPr/>
        </p:nvSpPr>
        <p:spPr>
          <a:xfrm>
            <a:off x="731520" y="1691640"/>
            <a:ext cx="1691640"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1248" y="1828800"/>
            <a:ext cx="1463040" cy="27432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850">
                <a:solidFill>
                  <a:srgbClr val="D97706"/>
                </a:solidFill>
              </a:defRPr>
            </a:pPr>
            <a:r>
              <a:t>PASO 01</a:t>
            </a:r>
          </a:p>
        </p:txBody>
      </p:sp>
      <p:sp>
        <p:nvSpPr>
          <p:cNvPr id="8" name="TextBox 7"/>
          <p:cNvSpPr txBox="1"/>
          <p:nvPr/>
        </p:nvSpPr>
        <p:spPr>
          <a:xfrm>
            <a:off x="822960" y="2240280"/>
            <a:ext cx="1508760" cy="3703320"/>
          </a:xfrm>
          <a:prstGeom prst="rect">
            <a:avLst/>
          </a:prstGeom>
          <a:noFill/>
        </p:spPr>
        <p:txBody>
          <a:bodyPr wrap="square">
            <a:spAutoFit/>
          </a:bodyPr>
          <a:lstStyle/>
          <a:p>
            <a:pPr>
              <a:defRPr b="1" sz="1000">
                <a:solidFill>
                  <a:srgbClr val="1E293B"/>
                </a:solidFill>
              </a:defRPr>
            </a:pPr>
            <a:r>
              <a:t>1. DATO HISTÓRICO</a:t>
            </a:r>
          </a:p>
          <a:p>
            <a:pPr>
              <a:spcBef>
                <a:spcPts val="800"/>
              </a:spcBef>
              <a:defRPr sz="850">
                <a:solidFill>
                  <a:srgbClr val="64748B"/>
                </a:solidFill>
              </a:defRPr>
            </a:pPr>
            <a:r>
              <a:t>Depuración de series 2024–2026 reales y auditadas de tesorería y presupuesto.</a:t>
            </a:r>
          </a:p>
        </p:txBody>
      </p:sp>
      <p:sp>
        <p:nvSpPr>
          <p:cNvPr id="9" name="Rounded Rectangle 8"/>
          <p:cNvSpPr/>
          <p:nvPr/>
        </p:nvSpPr>
        <p:spPr>
          <a:xfrm>
            <a:off x="2542032" y="1691640"/>
            <a:ext cx="1691640"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651760" y="1828800"/>
            <a:ext cx="1463040" cy="274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850">
                <a:solidFill>
                  <a:srgbClr val="2563EB"/>
                </a:solidFill>
              </a:defRPr>
            </a:pPr>
            <a:r>
              <a:t>PASO 02</a:t>
            </a:r>
          </a:p>
        </p:txBody>
      </p:sp>
      <p:sp>
        <p:nvSpPr>
          <p:cNvPr id="11" name="TextBox 10"/>
          <p:cNvSpPr txBox="1"/>
          <p:nvPr/>
        </p:nvSpPr>
        <p:spPr>
          <a:xfrm>
            <a:off x="2633472" y="2240280"/>
            <a:ext cx="1508760" cy="3703320"/>
          </a:xfrm>
          <a:prstGeom prst="rect">
            <a:avLst/>
          </a:prstGeom>
          <a:noFill/>
        </p:spPr>
        <p:txBody>
          <a:bodyPr wrap="square">
            <a:spAutoFit/>
          </a:bodyPr>
          <a:lstStyle/>
          <a:p>
            <a:pPr>
              <a:defRPr b="1" sz="1000">
                <a:solidFill>
                  <a:srgbClr val="1E293B"/>
                </a:solidFill>
              </a:defRPr>
            </a:pPr>
            <a:r>
              <a:t>2. VARIABLE INDUCTORA</a:t>
            </a:r>
          </a:p>
          <a:p>
            <a:pPr>
              <a:spcBef>
                <a:spcPts val="800"/>
              </a:spcBef>
              <a:defRPr sz="850">
                <a:solidFill>
                  <a:srgbClr val="64748B"/>
                </a:solidFill>
              </a:defRPr>
            </a:pPr>
            <a:r>
              <a:t>Identificación de factores causales: IPC, Decretos salariales, PGN, coberturas.</a:t>
            </a:r>
          </a:p>
        </p:txBody>
      </p:sp>
      <p:sp>
        <p:nvSpPr>
          <p:cNvPr id="12" name="Rounded Rectangle 11"/>
          <p:cNvSpPr/>
          <p:nvPr/>
        </p:nvSpPr>
        <p:spPr>
          <a:xfrm>
            <a:off x="4352544" y="1691640"/>
            <a:ext cx="1691640"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62272" y="1828800"/>
            <a:ext cx="1463040" cy="27432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850">
                <a:solidFill>
                  <a:srgbClr val="D97706"/>
                </a:solidFill>
              </a:defRPr>
            </a:pPr>
            <a:r>
              <a:t>PASO 03</a:t>
            </a:r>
          </a:p>
        </p:txBody>
      </p:sp>
      <p:sp>
        <p:nvSpPr>
          <p:cNvPr id="14" name="TextBox 13"/>
          <p:cNvSpPr txBox="1"/>
          <p:nvPr/>
        </p:nvSpPr>
        <p:spPr>
          <a:xfrm>
            <a:off x="4443984" y="2240280"/>
            <a:ext cx="1508760" cy="3703320"/>
          </a:xfrm>
          <a:prstGeom prst="rect">
            <a:avLst/>
          </a:prstGeom>
          <a:noFill/>
        </p:spPr>
        <p:txBody>
          <a:bodyPr wrap="square">
            <a:spAutoFit/>
          </a:bodyPr>
          <a:lstStyle/>
          <a:p>
            <a:pPr>
              <a:defRPr b="1" sz="1000">
                <a:solidFill>
                  <a:srgbClr val="1E293B"/>
                </a:solidFill>
              </a:defRPr>
            </a:pPr>
            <a:r>
              <a:t>3. SUPUESTO NORMATIVO</a:t>
            </a:r>
          </a:p>
          <a:p>
            <a:pPr>
              <a:spcBef>
                <a:spcPts val="800"/>
              </a:spcBef>
              <a:defRPr sz="850">
                <a:solidFill>
                  <a:srgbClr val="64748B"/>
                </a:solidFill>
              </a:defRPr>
            </a:pPr>
            <a:r>
              <a:t>Definición de parámetros oficiales (+6,0% macro, +6,44% PGN, +7,37% inversión).</a:t>
            </a:r>
          </a:p>
        </p:txBody>
      </p:sp>
      <p:sp>
        <p:nvSpPr>
          <p:cNvPr id="15" name="Rounded Rectangle 14"/>
          <p:cNvSpPr/>
          <p:nvPr/>
        </p:nvSpPr>
        <p:spPr>
          <a:xfrm>
            <a:off x="6163056" y="1691640"/>
            <a:ext cx="1691640"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2784" y="1828800"/>
            <a:ext cx="1463040" cy="274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850">
                <a:solidFill>
                  <a:srgbClr val="2563EB"/>
                </a:solidFill>
              </a:defRPr>
            </a:pPr>
            <a:r>
              <a:t>PASO 04</a:t>
            </a:r>
          </a:p>
        </p:txBody>
      </p:sp>
      <p:sp>
        <p:nvSpPr>
          <p:cNvPr id="17" name="TextBox 16"/>
          <p:cNvSpPr txBox="1"/>
          <p:nvPr/>
        </p:nvSpPr>
        <p:spPr>
          <a:xfrm>
            <a:off x="6254496" y="2240280"/>
            <a:ext cx="1508760" cy="3703320"/>
          </a:xfrm>
          <a:prstGeom prst="rect">
            <a:avLst/>
          </a:prstGeom>
          <a:noFill/>
        </p:spPr>
        <p:txBody>
          <a:bodyPr wrap="square">
            <a:spAutoFit/>
          </a:bodyPr>
          <a:lstStyle/>
          <a:p>
            <a:pPr>
              <a:defRPr b="1" sz="1000">
                <a:solidFill>
                  <a:srgbClr val="1E293B"/>
                </a:solidFill>
              </a:defRPr>
            </a:pPr>
            <a:r>
              <a:t>4. ALGORITMO / MODELO</a:t>
            </a:r>
          </a:p>
          <a:p>
            <a:pPr>
              <a:spcBef>
                <a:spcPts val="800"/>
              </a:spcBef>
              <a:defRPr sz="850">
                <a:solidFill>
                  <a:srgbClr val="64748B"/>
                </a:solidFill>
              </a:defRPr>
            </a:pPr>
            <a:r>
              <a:t>Modelación matemática (Macro aprobado, Holt-Winters, CAGR, WMA-3, OLS).</a:t>
            </a:r>
          </a:p>
        </p:txBody>
      </p:sp>
      <p:sp>
        <p:nvSpPr>
          <p:cNvPr id="18" name="Rounded Rectangle 17"/>
          <p:cNvSpPr/>
          <p:nvPr/>
        </p:nvSpPr>
        <p:spPr>
          <a:xfrm>
            <a:off x="7973568" y="1691640"/>
            <a:ext cx="1691640"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83296" y="1828800"/>
            <a:ext cx="1463040" cy="27432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850">
                <a:solidFill>
                  <a:srgbClr val="D97706"/>
                </a:solidFill>
              </a:defRPr>
            </a:pPr>
            <a:r>
              <a:t>PASO 05</a:t>
            </a:r>
          </a:p>
        </p:txBody>
      </p:sp>
      <p:sp>
        <p:nvSpPr>
          <p:cNvPr id="20" name="TextBox 19"/>
          <p:cNvSpPr txBox="1"/>
          <p:nvPr/>
        </p:nvSpPr>
        <p:spPr>
          <a:xfrm>
            <a:off x="8065008" y="2240280"/>
            <a:ext cx="1508760" cy="3703320"/>
          </a:xfrm>
          <a:prstGeom prst="rect">
            <a:avLst/>
          </a:prstGeom>
          <a:noFill/>
        </p:spPr>
        <p:txBody>
          <a:bodyPr wrap="square">
            <a:spAutoFit/>
          </a:bodyPr>
          <a:lstStyle/>
          <a:p>
            <a:pPr>
              <a:defRPr b="1" sz="1000">
                <a:solidFill>
                  <a:srgbClr val="1E293B"/>
                </a:solidFill>
              </a:defRPr>
            </a:pPr>
            <a:r>
              <a:t>5. PROYECCIÓN 2027</a:t>
            </a:r>
          </a:p>
          <a:p>
            <a:pPr>
              <a:spcBef>
                <a:spcPts val="800"/>
              </a:spcBef>
              <a:defRPr sz="850">
                <a:solidFill>
                  <a:srgbClr val="64748B"/>
                </a:solidFill>
              </a:defRPr>
            </a:pPr>
            <a:r>
              <a:t>Cálculo nominal punto a punto para cada concepto individual sin promedios ciegos.</a:t>
            </a:r>
          </a:p>
        </p:txBody>
      </p:sp>
      <p:sp>
        <p:nvSpPr>
          <p:cNvPr id="21" name="Rounded Rectangle 20"/>
          <p:cNvSpPr/>
          <p:nvPr/>
        </p:nvSpPr>
        <p:spPr>
          <a:xfrm>
            <a:off x="9784080" y="1691640"/>
            <a:ext cx="1691640"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893808" y="1828800"/>
            <a:ext cx="1463040" cy="274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850">
                <a:solidFill>
                  <a:srgbClr val="2563EB"/>
                </a:solidFill>
              </a:defRPr>
            </a:pPr>
            <a:r>
              <a:t>PASO 06</a:t>
            </a:r>
          </a:p>
        </p:txBody>
      </p:sp>
      <p:sp>
        <p:nvSpPr>
          <p:cNvPr id="23" name="TextBox 22"/>
          <p:cNvSpPr txBox="1"/>
          <p:nvPr/>
        </p:nvSpPr>
        <p:spPr>
          <a:xfrm>
            <a:off x="9875520" y="2240280"/>
            <a:ext cx="1508760" cy="3703320"/>
          </a:xfrm>
          <a:prstGeom prst="rect">
            <a:avLst/>
          </a:prstGeom>
          <a:noFill/>
        </p:spPr>
        <p:txBody>
          <a:bodyPr wrap="square">
            <a:spAutoFit/>
          </a:bodyPr>
          <a:lstStyle/>
          <a:p>
            <a:pPr>
              <a:defRPr b="1" sz="1000">
                <a:solidFill>
                  <a:srgbClr val="1E293B"/>
                </a:solidFill>
              </a:defRPr>
            </a:pPr>
            <a:r>
              <a:t>6. VALIDACIÓN LEGAL</a:t>
            </a:r>
          </a:p>
          <a:p>
            <a:pPr>
              <a:spcBef>
                <a:spcPts val="800"/>
              </a:spcBef>
              <a:defRPr sz="850">
                <a:solidFill>
                  <a:srgbClr val="64748B"/>
                </a:solidFill>
              </a:defRPr>
            </a:pPr>
            <a:r>
              <a:t>Cotejo vinculante frente al Proyecto de Ley PGN 2027 y límites de sostenibilidad.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06. PARÁMETROS DEL MODELO | SUPUESTOS OFICIALES</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Los supuestos del modelo priorizan el principio de prudencia fiscal y el rigor normativo</a:t>
            </a:r>
          </a:p>
          <a:p>
            <a:pPr>
              <a:spcBef>
                <a:spcPts val="200"/>
              </a:spcBef>
              <a:defRPr sz="1050">
                <a:solidFill>
                  <a:srgbClr val="64748B"/>
                </a:solidFill>
              </a:defRPr>
            </a:pPr>
            <a:r>
              <a:t>Valores paramétricos aprobados que rigen la estimación de los 19 conceptos presupuestales</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07 / 16</a:t>
            </a:r>
          </a:p>
        </p:txBody>
      </p:sp>
      <p:sp>
        <p:nvSpPr>
          <p:cNvPr id="6" name="Rounded Rectangle 5"/>
          <p:cNvSpPr/>
          <p:nvPr/>
        </p:nvSpPr>
        <p:spPr>
          <a:xfrm>
            <a:off x="731520" y="1691640"/>
            <a:ext cx="52422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4225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01368"/>
            <a:ext cx="4876495" cy="1874519"/>
          </a:xfrm>
          <a:prstGeom prst="rect">
            <a:avLst/>
          </a:prstGeom>
          <a:noFill/>
        </p:spPr>
        <p:txBody>
          <a:bodyPr wrap="square">
            <a:spAutoFit/>
          </a:bodyPr>
          <a:lstStyle/>
          <a:p>
            <a:pPr>
              <a:defRPr b="1" sz="1050">
                <a:solidFill>
                  <a:srgbClr val="D97706"/>
                </a:solidFill>
              </a:defRPr>
            </a:pPr>
            <a:r>
              <a:t>PARÁMETRO MACRO OFICIAL</a:t>
            </a:r>
          </a:p>
          <a:p>
            <a:pPr>
              <a:spcBef>
                <a:spcPts val="200"/>
              </a:spcBef>
              <a:defRPr b="1" sz="2000">
                <a:solidFill>
                  <a:srgbClr val="0F172A"/>
                </a:solidFill>
              </a:defRPr>
            </a:pPr>
            <a:r>
              <a:t>+6,00%</a:t>
            </a:r>
          </a:p>
          <a:p>
            <a:pPr>
              <a:spcBef>
                <a:spcPts val="100"/>
              </a:spcBef>
              <a:defRPr b="1" sz="850">
                <a:solidFill>
                  <a:srgbClr val="1E293B"/>
                </a:solidFill>
              </a:defRPr>
            </a:pPr>
            <a:r>
              <a:t>Vigencia Meta 2027 | Marco Fiscal de Mediano Plazo</a:t>
            </a:r>
          </a:p>
          <a:p>
            <a:pPr>
              <a:spcBef>
                <a:spcPts val="400"/>
              </a:spcBef>
              <a:defRPr sz="850">
                <a:solidFill>
                  <a:srgbClr val="64748B"/>
                </a:solidFill>
              </a:defRPr>
            </a:pPr>
            <a:r>
              <a:t>Piso de incremento general aprobado institucionalmente. Aplica a Recursos Propios (R20), Política de Gratuidad (R14), Estampilla UNAL (R12), Cooperativas (R13), Devolución IVA (R21) y Estampilla Pro-UPTC (R40). Garantiza crecimiento real conservador.</a:t>
            </a:r>
          </a:p>
        </p:txBody>
      </p:sp>
      <p:sp>
        <p:nvSpPr>
          <p:cNvPr id="9" name="Rounded Rectangle 8"/>
          <p:cNvSpPr/>
          <p:nvPr/>
        </p:nvSpPr>
        <p:spPr>
          <a:xfrm>
            <a:off x="6217920" y="1691640"/>
            <a:ext cx="52422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91640"/>
            <a:ext cx="524225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01368"/>
            <a:ext cx="4876495" cy="1874519"/>
          </a:xfrm>
          <a:prstGeom prst="rect">
            <a:avLst/>
          </a:prstGeom>
          <a:noFill/>
        </p:spPr>
        <p:txBody>
          <a:bodyPr wrap="square">
            <a:spAutoFit/>
          </a:bodyPr>
          <a:lstStyle/>
          <a:p>
            <a:pPr>
              <a:defRPr b="1" sz="1050">
                <a:solidFill>
                  <a:srgbClr val="2563EB"/>
                </a:solidFill>
              </a:defRPr>
            </a:pPr>
            <a:r>
              <a:t>FACTOR AUMENTO PGN FUNCIONAMIENTO</a:t>
            </a:r>
          </a:p>
          <a:p>
            <a:pPr>
              <a:spcBef>
                <a:spcPts val="200"/>
              </a:spcBef>
              <a:defRPr b="1" sz="2000">
                <a:solidFill>
                  <a:srgbClr val="0F172A"/>
                </a:solidFill>
              </a:defRPr>
            </a:pPr>
            <a:r>
              <a:t>+6,44%</a:t>
            </a:r>
          </a:p>
          <a:p>
            <a:pPr>
              <a:spcBef>
                <a:spcPts val="100"/>
              </a:spcBef>
              <a:defRPr b="1" sz="850">
                <a:solidFill>
                  <a:srgbClr val="1E293B"/>
                </a:solidFill>
              </a:defRPr>
            </a:pPr>
            <a:r>
              <a:t>Vigencia Meta 2027 | Proyecto de Ley PGN MinHacienda</a:t>
            </a:r>
          </a:p>
          <a:p>
            <a:pPr>
              <a:spcBef>
                <a:spcPts val="400"/>
              </a:spcBef>
              <a:defRPr sz="850">
                <a:solidFill>
                  <a:srgbClr val="64748B"/>
                </a:solidFill>
              </a:defRPr>
            </a:pPr>
            <a:r>
              <a:t>Tasa de aumento legal fijada para el bloque de funcionamiento de la Nación (R10, R17 y R18). Asegura el cumplimiento exacto del techo legal asignado por el Gobierno Nacional en $395.704.592.082 COP.</a:t>
            </a:r>
          </a:p>
        </p:txBody>
      </p:sp>
      <p:sp>
        <p:nvSpPr>
          <p:cNvPr id="12" name="Rounded Rectangle 11"/>
          <p:cNvSpPr/>
          <p:nvPr/>
        </p:nvSpPr>
        <p:spPr>
          <a:xfrm>
            <a:off x="731520" y="3931920"/>
            <a:ext cx="52422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931920"/>
            <a:ext cx="524225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41648"/>
            <a:ext cx="4876495" cy="1874519"/>
          </a:xfrm>
          <a:prstGeom prst="rect">
            <a:avLst/>
          </a:prstGeom>
          <a:noFill/>
        </p:spPr>
        <p:txBody>
          <a:bodyPr wrap="square">
            <a:spAutoFit/>
          </a:bodyPr>
          <a:lstStyle/>
          <a:p>
            <a:pPr>
              <a:defRPr b="1" sz="1050">
                <a:solidFill>
                  <a:srgbClr val="10B981"/>
                </a:solidFill>
              </a:defRPr>
            </a:pPr>
            <a:r>
              <a:t>ASIGNACIÓN LEY PGN INVERSIÓN</a:t>
            </a:r>
          </a:p>
          <a:p>
            <a:pPr>
              <a:spcBef>
                <a:spcPts val="200"/>
              </a:spcBef>
              <a:defRPr b="1" sz="2000">
                <a:solidFill>
                  <a:srgbClr val="0F172A"/>
                </a:solidFill>
              </a:defRPr>
            </a:pPr>
            <a:r>
              <a:t>+7,37%</a:t>
            </a:r>
          </a:p>
          <a:p>
            <a:pPr>
              <a:spcBef>
                <a:spcPts val="100"/>
              </a:spcBef>
              <a:defRPr b="1" sz="850">
                <a:solidFill>
                  <a:srgbClr val="1E293B"/>
                </a:solidFill>
              </a:defRPr>
            </a:pPr>
            <a:r>
              <a:t>Vigencia Meta 2027 | Presupuesto Sector Educación PGN</a:t>
            </a:r>
          </a:p>
          <a:p>
            <a:pPr>
              <a:spcBef>
                <a:spcPts val="400"/>
              </a:spcBef>
              <a:defRPr sz="850">
                <a:solidFill>
                  <a:srgbClr val="64748B"/>
                </a:solidFill>
              </a:defRPr>
            </a:pPr>
            <a:r>
              <a:t>Cifra oficial fijada en el anexo de inversiones del Proyecto PGN 2027 ($8.310.959.010 COP para el Recurso 16.0). Representa un incremento nominal de +$570,7 M COP frente a la base 2026.</a:t>
            </a:r>
          </a:p>
        </p:txBody>
      </p:sp>
      <p:sp>
        <p:nvSpPr>
          <p:cNvPr id="15" name="Rounded Rectangle 14"/>
          <p:cNvSpPr/>
          <p:nvPr/>
        </p:nvSpPr>
        <p:spPr>
          <a:xfrm>
            <a:off x="6217920" y="3931920"/>
            <a:ext cx="52422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931920"/>
            <a:ext cx="5242255" cy="54864"/>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041648"/>
            <a:ext cx="4876495" cy="1874519"/>
          </a:xfrm>
          <a:prstGeom prst="rect">
            <a:avLst/>
          </a:prstGeom>
          <a:noFill/>
        </p:spPr>
        <p:txBody>
          <a:bodyPr wrap="square">
            <a:spAutoFit/>
          </a:bodyPr>
          <a:lstStyle/>
          <a:p>
            <a:pPr>
              <a:defRPr b="1" sz="1050">
                <a:solidFill>
                  <a:srgbClr val="9333EA"/>
                </a:solidFill>
              </a:defRPr>
            </a:pPr>
            <a:r>
              <a:t>CALIBRACIÓN HOLT-WINTERS (R21 IVA)</a:t>
            </a:r>
          </a:p>
          <a:p>
            <a:pPr>
              <a:spcBef>
                <a:spcPts val="200"/>
              </a:spcBef>
              <a:defRPr b="1" sz="2000">
                <a:solidFill>
                  <a:srgbClr val="0F172A"/>
                </a:solidFill>
              </a:defRPr>
            </a:pPr>
            <a:r>
              <a:t>α: 0.50 / β: 0.30</a:t>
            </a:r>
          </a:p>
          <a:p>
            <a:pPr>
              <a:spcBef>
                <a:spcPts val="100"/>
              </a:spcBef>
              <a:defRPr b="1" sz="850">
                <a:solidFill>
                  <a:srgbClr val="1E293B"/>
                </a:solidFill>
              </a:defRPr>
            </a:pPr>
            <a:r>
              <a:t>Vigencia Meta 2027 | Modelación de Suavizamiento Exponencial</a:t>
            </a:r>
          </a:p>
          <a:p>
            <a:pPr>
              <a:spcBef>
                <a:spcPts val="400"/>
              </a:spcBef>
              <a:defRPr sz="850">
                <a:solidFill>
                  <a:srgbClr val="64748B"/>
                </a:solidFill>
              </a:defRPr>
            </a:pPr>
            <a:r>
              <a:t>Parámetros de sensibilidad para capturar nivel (alfa) y tendencia (beta) del recaudo tributario de IVA. Arroja una proyección matemática de $4.890 M (+4,66%), contrastada con el parámetro macro aprobado de $4.952,6 M (+6,00%).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07. METODOLOGÍA POR RECURSO | MATRIZ DE MODELACIÓN</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Cada fuente de financiamiento aplica un método adaptado a su naturaleza jurídica y económica</a:t>
            </a:r>
          </a:p>
          <a:p>
            <a:pPr>
              <a:spcBef>
                <a:spcPts val="200"/>
              </a:spcBef>
              <a:defRPr sz="1050">
                <a:solidFill>
                  <a:srgbClr val="64748B"/>
                </a:solidFill>
              </a:defRPr>
            </a:pPr>
            <a:r>
              <a:t>Resumen de metodologías seleccionadas para los principales fondos del presupuesto UPTC 2027</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08 / 16</a:t>
            </a:r>
          </a:p>
        </p:txBody>
      </p:sp>
      <p:graphicFrame>
        <p:nvGraphicFramePr>
          <p:cNvPr id="6" name="Table 5"/>
          <p:cNvGraphicFramePr>
            <a:graphicFrameLocks noGrp="1"/>
          </p:cNvGraphicFramePr>
          <p:nvPr/>
        </p:nvGraphicFramePr>
        <p:xfrm>
          <a:off x="731520" y="1691640"/>
          <a:ext cx="10728655" cy="4343400"/>
        </p:xfrm>
        <a:graphic>
          <a:graphicData uri="http://schemas.openxmlformats.org/drawingml/2006/table">
            <a:tbl>
              <a:tblPr firstRow="1" bandRow="1">
                <a:tableStyleId>{5C22544A-7EE6-4342-B048-85BDC9FD1C3A}</a:tableStyleId>
              </a:tblPr>
              <a:tblGrid>
                <a:gridCol w="1005840"/>
                <a:gridCol w="2926080"/>
                <a:gridCol w="1463040"/>
                <a:gridCol w="2011680"/>
                <a:gridCol w="1858975"/>
                <a:gridCol w="1463040"/>
              </a:tblGrid>
              <a:tr h="394854">
                <a:tc>
                  <a:txBody>
                    <a:bodyPr/>
                    <a:lstStyle/>
                    <a:p>
                      <a:pPr>
                        <a:defRPr b="1" sz="850">
                          <a:solidFill>
                            <a:srgbClr val="FFFFFF"/>
                          </a:solidFill>
                        </a:defRPr>
                      </a:pPr>
                      <a:r>
                        <a:t>Recurso</a:t>
                      </a:r>
                    </a:p>
                  </a:txBody>
                  <a:tcPr>
                    <a:solidFill>
                      <a:srgbClr val="1E293B"/>
                    </a:solidFill>
                  </a:tcPr>
                </a:tc>
                <a:tc>
                  <a:txBody>
                    <a:bodyPr/>
                    <a:lstStyle/>
                    <a:p>
                      <a:pPr>
                        <a:defRPr b="1" sz="850">
                          <a:solidFill>
                            <a:srgbClr val="FFFFFF"/>
                          </a:solidFill>
                        </a:defRPr>
                      </a:pPr>
                      <a:r>
                        <a:t>Denominación Oficial</a:t>
                      </a:r>
                    </a:p>
                  </a:txBody>
                  <a:tcPr>
                    <a:solidFill>
                      <a:srgbClr val="1E293B"/>
                    </a:solidFill>
                  </a:tcPr>
                </a:tc>
                <a:tc>
                  <a:txBody>
                    <a:bodyPr/>
                    <a:lstStyle/>
                    <a:p>
                      <a:pPr algn="r">
                        <a:defRPr b="1" sz="850">
                          <a:solidFill>
                            <a:srgbClr val="FFFFFF"/>
                          </a:solidFill>
                        </a:defRPr>
                      </a:pPr>
                      <a:r>
                        <a:t>Base 2026 ($ M)</a:t>
                      </a:r>
                    </a:p>
                  </a:txBody>
                  <a:tcPr>
                    <a:solidFill>
                      <a:srgbClr val="1E293B"/>
                    </a:solidFill>
                  </a:tcPr>
                </a:tc>
                <a:tc>
                  <a:txBody>
                    <a:bodyPr/>
                    <a:lstStyle/>
                    <a:p>
                      <a:pPr>
                        <a:defRPr b="1" sz="850">
                          <a:solidFill>
                            <a:srgbClr val="FFFFFF"/>
                          </a:solidFill>
                        </a:defRPr>
                      </a:pPr>
                      <a:r>
                        <a:t>Variable Inductora</a:t>
                      </a:r>
                    </a:p>
                  </a:txBody>
                  <a:tcPr>
                    <a:solidFill>
                      <a:srgbClr val="1E293B"/>
                    </a:solidFill>
                  </a:tcPr>
                </a:tc>
                <a:tc>
                  <a:txBody>
                    <a:bodyPr/>
                    <a:lstStyle/>
                    <a:p>
                      <a:pPr>
                        <a:defRPr b="1" sz="850">
                          <a:solidFill>
                            <a:srgbClr val="FFFFFF"/>
                          </a:solidFill>
                        </a:defRPr>
                      </a:pPr>
                      <a:r>
                        <a:t>Método Oficial Aplicado</a:t>
                      </a:r>
                    </a:p>
                  </a:txBody>
                  <a:tcPr>
                    <a:solidFill>
                      <a:srgbClr val="1E293B"/>
                    </a:solidFill>
                  </a:tcPr>
                </a:tc>
                <a:tc>
                  <a:txBody>
                    <a:bodyPr/>
                    <a:lstStyle/>
                    <a:p>
                      <a:pPr algn="r">
                        <a:defRPr b="1" sz="850">
                          <a:solidFill>
                            <a:srgbClr val="FFFFFF"/>
                          </a:solidFill>
                        </a:defRPr>
                      </a:pPr>
                      <a:r>
                        <a:t>Proy. 2027 ($ M)</a:t>
                      </a:r>
                    </a:p>
                  </a:txBody>
                  <a:tcPr>
                    <a:solidFill>
                      <a:srgbClr val="1E293B"/>
                    </a:solidFill>
                  </a:tcPr>
                </a:tc>
              </a:tr>
              <a:tr h="394854">
                <a:tc>
                  <a:txBody>
                    <a:bodyPr/>
                    <a:lstStyle/>
                    <a:p>
                      <a:pPr>
                        <a:defRPr sz="800" b="1">
                          <a:solidFill>
                            <a:srgbClr val="D97706"/>
                          </a:solidFill>
                        </a:defRPr>
                      </a:pPr>
                      <a:r>
                        <a:t>R-10</a:t>
                      </a:r>
                    </a:p>
                  </a:txBody>
                  <a:tcPr>
                    <a:solidFill>
                      <a:srgbClr val="FFFFFF"/>
                    </a:solidFill>
                  </a:tcPr>
                </a:tc>
                <a:tc>
                  <a:txBody>
                    <a:bodyPr/>
                    <a:lstStyle/>
                    <a:p>
                      <a:pPr>
                        <a:defRPr sz="800">
                          <a:solidFill>
                            <a:srgbClr val="0F172A"/>
                          </a:solidFill>
                        </a:defRPr>
                      </a:pPr>
                      <a:r>
                        <a:t>Aportes Funcionamiento Nación</a:t>
                      </a:r>
                    </a:p>
                  </a:txBody>
                  <a:tcPr>
                    <a:solidFill>
                      <a:srgbClr val="FFFFFF"/>
                    </a:solidFill>
                  </a:tcPr>
                </a:tc>
                <a:tc>
                  <a:txBody>
                    <a:bodyPr/>
                    <a:lstStyle/>
                    <a:p>
                      <a:pPr algn="r">
                        <a:defRPr sz="800" b="0">
                          <a:solidFill>
                            <a:srgbClr val="0F172A"/>
                          </a:solidFill>
                        </a:defRPr>
                      </a:pPr>
                      <a:r>
                        <a:t>$ 364.009,3 M</a:t>
                      </a:r>
                    </a:p>
                  </a:txBody>
                  <a:tcPr>
                    <a:solidFill>
                      <a:srgbClr val="FFFFFF"/>
                    </a:solidFill>
                  </a:tcPr>
                </a:tc>
                <a:tc>
                  <a:txBody>
                    <a:bodyPr/>
                    <a:lstStyle/>
                    <a:p>
                      <a:pPr>
                        <a:defRPr sz="800">
                          <a:solidFill>
                            <a:srgbClr val="0F172A"/>
                          </a:solidFill>
                        </a:defRPr>
                      </a:pPr>
                      <a:r>
                        <a:t>Techo PGN MinHacienda</a:t>
                      </a:r>
                    </a:p>
                  </a:txBody>
                  <a:tcPr>
                    <a:solidFill>
                      <a:srgbClr val="FFFFFF"/>
                    </a:solidFill>
                  </a:tcPr>
                </a:tc>
                <a:tc>
                  <a:txBody>
                    <a:bodyPr/>
                    <a:lstStyle/>
                    <a:p>
                      <a:pPr>
                        <a:defRPr sz="800">
                          <a:solidFill>
                            <a:srgbClr val="0F172A"/>
                          </a:solidFill>
                        </a:defRPr>
                      </a:pPr>
                      <a:r>
                        <a:t>Aumento Calculado PGN (+6,44%)</a:t>
                      </a:r>
                    </a:p>
                  </a:txBody>
                  <a:tcPr>
                    <a:solidFill>
                      <a:srgbClr val="FFFFFF"/>
                    </a:solidFill>
                  </a:tcPr>
                </a:tc>
                <a:tc>
                  <a:txBody>
                    <a:bodyPr/>
                    <a:lstStyle/>
                    <a:p>
                      <a:pPr algn="r">
                        <a:defRPr sz="800" b="1">
                          <a:solidFill>
                            <a:srgbClr val="0F172A"/>
                          </a:solidFill>
                        </a:defRPr>
                      </a:pPr>
                      <a:r>
                        <a:t>$ 387.451,5 M</a:t>
                      </a:r>
                    </a:p>
                  </a:txBody>
                  <a:tcPr>
                    <a:solidFill>
                      <a:srgbClr val="FFFFFF"/>
                    </a:solidFill>
                  </a:tcPr>
                </a:tc>
              </a:tr>
              <a:tr h="394854">
                <a:tc>
                  <a:txBody>
                    <a:bodyPr/>
                    <a:lstStyle/>
                    <a:p>
                      <a:pPr>
                        <a:defRPr sz="800" b="1">
                          <a:solidFill>
                            <a:srgbClr val="D97706"/>
                          </a:solidFill>
                        </a:defRPr>
                      </a:pPr>
                      <a:r>
                        <a:t>R-12</a:t>
                      </a:r>
                    </a:p>
                  </a:txBody>
                  <a:tcPr>
                    <a:solidFill>
                      <a:srgbClr val="F8FAFC"/>
                    </a:solidFill>
                  </a:tcPr>
                </a:tc>
                <a:tc>
                  <a:txBody>
                    <a:bodyPr/>
                    <a:lstStyle/>
                    <a:p>
                      <a:pPr>
                        <a:defRPr sz="800">
                          <a:solidFill>
                            <a:srgbClr val="0F172A"/>
                          </a:solidFill>
                        </a:defRPr>
                      </a:pPr>
                      <a:r>
                        <a:t>Estampilla UNAL y Otras Univs</a:t>
                      </a:r>
                    </a:p>
                  </a:txBody>
                  <a:tcPr>
                    <a:solidFill>
                      <a:srgbClr val="F8FAFC"/>
                    </a:solidFill>
                  </a:tcPr>
                </a:tc>
                <a:tc>
                  <a:txBody>
                    <a:bodyPr/>
                    <a:lstStyle/>
                    <a:p>
                      <a:pPr algn="r">
                        <a:defRPr sz="800" b="0">
                          <a:solidFill>
                            <a:srgbClr val="0F172A"/>
                          </a:solidFill>
                        </a:defRPr>
                      </a:pPr>
                      <a:r>
                        <a:t>$ 9.015,9 M</a:t>
                      </a:r>
                    </a:p>
                  </a:txBody>
                  <a:tcPr>
                    <a:solidFill>
                      <a:srgbClr val="F8FAFC"/>
                    </a:solidFill>
                  </a:tcPr>
                </a:tc>
                <a:tc>
                  <a:txBody>
                    <a:bodyPr/>
                    <a:lstStyle/>
                    <a:p>
                      <a:pPr>
                        <a:defRPr sz="800">
                          <a:solidFill>
                            <a:srgbClr val="0F172A"/>
                          </a:solidFill>
                        </a:defRPr>
                      </a:pPr>
                      <a:r>
                        <a:t>Recaudo tributario nacional</a:t>
                      </a:r>
                    </a:p>
                  </a:txBody>
                  <a:tcPr>
                    <a:solidFill>
                      <a:srgbClr val="F8FAFC"/>
                    </a:solidFill>
                  </a:tcPr>
                </a:tc>
                <a:tc>
                  <a:txBody>
                    <a:bodyPr/>
                    <a:lstStyle/>
                    <a:p>
                      <a:pPr>
                        <a:defRPr sz="800">
                          <a:solidFill>
                            <a:srgbClr val="0F172A"/>
                          </a:solidFill>
                        </a:defRPr>
                      </a:pPr>
                      <a:r>
                        <a:t>Macro +6,0% (Parámetro Aprobado)</a:t>
                      </a:r>
                    </a:p>
                  </a:txBody>
                  <a:tcPr>
                    <a:solidFill>
                      <a:srgbClr val="F8FAFC"/>
                    </a:solidFill>
                  </a:tcPr>
                </a:tc>
                <a:tc>
                  <a:txBody>
                    <a:bodyPr/>
                    <a:lstStyle/>
                    <a:p>
                      <a:pPr algn="r">
                        <a:defRPr sz="800" b="1">
                          <a:solidFill>
                            <a:srgbClr val="0F172A"/>
                          </a:solidFill>
                        </a:defRPr>
                      </a:pPr>
                      <a:r>
                        <a:t>$ 9.556,9 M</a:t>
                      </a:r>
                    </a:p>
                  </a:txBody>
                  <a:tcPr>
                    <a:solidFill>
                      <a:srgbClr val="F8FAFC"/>
                    </a:solidFill>
                  </a:tcPr>
                </a:tc>
              </a:tr>
              <a:tr h="394854">
                <a:tc>
                  <a:txBody>
                    <a:bodyPr/>
                    <a:lstStyle/>
                    <a:p>
                      <a:pPr>
                        <a:defRPr sz="800" b="1">
                          <a:solidFill>
                            <a:srgbClr val="D97706"/>
                          </a:solidFill>
                        </a:defRPr>
                      </a:pPr>
                      <a:r>
                        <a:t>R-13</a:t>
                      </a:r>
                    </a:p>
                  </a:txBody>
                  <a:tcPr>
                    <a:solidFill>
                      <a:srgbClr val="FFFFFF"/>
                    </a:solidFill>
                  </a:tcPr>
                </a:tc>
                <a:tc>
                  <a:txBody>
                    <a:bodyPr/>
                    <a:lstStyle/>
                    <a:p>
                      <a:pPr>
                        <a:defRPr sz="800">
                          <a:solidFill>
                            <a:srgbClr val="0F172A"/>
                          </a:solidFill>
                        </a:defRPr>
                      </a:pPr>
                      <a:r>
                        <a:t>Excedentes Cooperativas (L. 1819)</a:t>
                      </a:r>
                    </a:p>
                  </a:txBody>
                  <a:tcPr>
                    <a:solidFill>
                      <a:srgbClr val="FFFFFF"/>
                    </a:solidFill>
                  </a:tcPr>
                </a:tc>
                <a:tc>
                  <a:txBody>
                    <a:bodyPr/>
                    <a:lstStyle/>
                    <a:p>
                      <a:pPr algn="r">
                        <a:defRPr sz="800" b="0">
                          <a:solidFill>
                            <a:srgbClr val="0F172A"/>
                          </a:solidFill>
                        </a:defRPr>
                      </a:pPr>
                      <a:r>
                        <a:t>$ 1.621,8 M</a:t>
                      </a:r>
                    </a:p>
                  </a:txBody>
                  <a:tcPr>
                    <a:solidFill>
                      <a:srgbClr val="FFFFFF"/>
                    </a:solidFill>
                  </a:tcPr>
                </a:tc>
                <a:tc>
                  <a:txBody>
                    <a:bodyPr/>
                    <a:lstStyle/>
                    <a:p>
                      <a:pPr>
                        <a:defRPr sz="800">
                          <a:solidFill>
                            <a:srgbClr val="0F172A"/>
                          </a:solidFill>
                        </a:defRPr>
                      </a:pPr>
                      <a:r>
                        <a:t>Utilidades sector cooperativo</a:t>
                      </a:r>
                    </a:p>
                  </a:txBody>
                  <a:tcPr>
                    <a:solidFill>
                      <a:srgbClr val="FFFFFF"/>
                    </a:solidFill>
                  </a:tcPr>
                </a:tc>
                <a:tc>
                  <a:txBody>
                    <a:bodyPr/>
                    <a:lstStyle/>
                    <a:p>
                      <a:pPr>
                        <a:defRPr sz="800">
                          <a:solidFill>
                            <a:srgbClr val="0F172A"/>
                          </a:solidFill>
                        </a:defRPr>
                      </a:pPr>
                      <a:r>
                        <a:t>Macro +6,0% (Base Real Aprobada)</a:t>
                      </a:r>
                    </a:p>
                  </a:txBody>
                  <a:tcPr>
                    <a:solidFill>
                      <a:srgbClr val="FFFFFF"/>
                    </a:solidFill>
                  </a:tcPr>
                </a:tc>
                <a:tc>
                  <a:txBody>
                    <a:bodyPr/>
                    <a:lstStyle/>
                    <a:p>
                      <a:pPr algn="r">
                        <a:defRPr sz="800" b="1">
                          <a:solidFill>
                            <a:srgbClr val="0F172A"/>
                          </a:solidFill>
                        </a:defRPr>
                      </a:pPr>
                      <a:r>
                        <a:t>$ 1.719,1 M</a:t>
                      </a:r>
                    </a:p>
                  </a:txBody>
                  <a:tcPr>
                    <a:solidFill>
                      <a:srgbClr val="FFFFFF"/>
                    </a:solidFill>
                  </a:tcPr>
                </a:tc>
              </a:tr>
              <a:tr h="394854">
                <a:tc>
                  <a:txBody>
                    <a:bodyPr/>
                    <a:lstStyle/>
                    <a:p>
                      <a:pPr>
                        <a:defRPr sz="800" b="1">
                          <a:solidFill>
                            <a:srgbClr val="D97706"/>
                          </a:solidFill>
                        </a:defRPr>
                      </a:pPr>
                      <a:r>
                        <a:t>R-14</a:t>
                      </a:r>
                    </a:p>
                  </a:txBody>
                  <a:tcPr>
                    <a:solidFill>
                      <a:srgbClr val="F8FAFC"/>
                    </a:solidFill>
                  </a:tcPr>
                </a:tc>
                <a:tc>
                  <a:txBody>
                    <a:bodyPr/>
                    <a:lstStyle/>
                    <a:p>
                      <a:pPr>
                        <a:defRPr sz="800">
                          <a:solidFill>
                            <a:srgbClr val="0F172A"/>
                          </a:solidFill>
                        </a:defRPr>
                      </a:pPr>
                      <a:r>
                        <a:t>Política de Gratuidad (FSE)</a:t>
                      </a:r>
                    </a:p>
                  </a:txBody>
                  <a:tcPr>
                    <a:solidFill>
                      <a:srgbClr val="F8FAFC"/>
                    </a:solidFill>
                  </a:tcPr>
                </a:tc>
                <a:tc>
                  <a:txBody>
                    <a:bodyPr/>
                    <a:lstStyle/>
                    <a:p>
                      <a:pPr algn="r">
                        <a:defRPr sz="800" b="0">
                          <a:solidFill>
                            <a:srgbClr val="0F172A"/>
                          </a:solidFill>
                        </a:defRPr>
                      </a:pPr>
                      <a:r>
                        <a:t>$ 49.844,2 M</a:t>
                      </a:r>
                    </a:p>
                  </a:txBody>
                  <a:tcPr>
                    <a:solidFill>
                      <a:srgbClr val="F8FAFC"/>
                    </a:solidFill>
                  </a:tcPr>
                </a:tc>
                <a:tc>
                  <a:txBody>
                    <a:bodyPr/>
                    <a:lstStyle/>
                    <a:p>
                      <a:pPr>
                        <a:defRPr sz="800">
                          <a:solidFill>
                            <a:srgbClr val="0F172A"/>
                          </a:solidFill>
                        </a:defRPr>
                      </a:pPr>
                      <a:r>
                        <a:t>Estudiantes beneficiarios MEN</a:t>
                      </a:r>
                    </a:p>
                  </a:txBody>
                  <a:tcPr>
                    <a:solidFill>
                      <a:srgbClr val="F8FAFC"/>
                    </a:solidFill>
                  </a:tcPr>
                </a:tc>
                <a:tc>
                  <a:txBody>
                    <a:bodyPr/>
                    <a:lstStyle/>
                    <a:p>
                      <a:pPr>
                        <a:defRPr sz="800">
                          <a:solidFill>
                            <a:srgbClr val="0F172A"/>
                          </a:solidFill>
                        </a:defRPr>
                      </a:pPr>
                      <a:r>
                        <a:t>Macro +6,0% (Piso Oficial Aprobado)</a:t>
                      </a:r>
                    </a:p>
                  </a:txBody>
                  <a:tcPr>
                    <a:solidFill>
                      <a:srgbClr val="F8FAFC"/>
                    </a:solidFill>
                  </a:tcPr>
                </a:tc>
                <a:tc>
                  <a:txBody>
                    <a:bodyPr/>
                    <a:lstStyle/>
                    <a:p>
                      <a:pPr algn="r">
                        <a:defRPr sz="800" b="1">
                          <a:solidFill>
                            <a:srgbClr val="0F172A"/>
                          </a:solidFill>
                        </a:defRPr>
                      </a:pPr>
                      <a:r>
                        <a:t>$ 52.834,8 M</a:t>
                      </a:r>
                    </a:p>
                  </a:txBody>
                  <a:tcPr>
                    <a:solidFill>
                      <a:srgbClr val="F8FAFC"/>
                    </a:solidFill>
                  </a:tcPr>
                </a:tc>
              </a:tr>
              <a:tr h="394854">
                <a:tc>
                  <a:txBody>
                    <a:bodyPr/>
                    <a:lstStyle/>
                    <a:p>
                      <a:pPr>
                        <a:defRPr sz="800" b="1">
                          <a:solidFill>
                            <a:srgbClr val="D97706"/>
                          </a:solidFill>
                        </a:defRPr>
                      </a:pPr>
                      <a:r>
                        <a:t>R-16</a:t>
                      </a:r>
                    </a:p>
                  </a:txBody>
                  <a:tcPr>
                    <a:solidFill>
                      <a:srgbClr val="FFFFFF"/>
                    </a:solidFill>
                  </a:tcPr>
                </a:tc>
                <a:tc>
                  <a:txBody>
                    <a:bodyPr/>
                    <a:lstStyle/>
                    <a:p>
                      <a:pPr>
                        <a:defRPr sz="800">
                          <a:solidFill>
                            <a:srgbClr val="0F172A"/>
                          </a:solidFill>
                        </a:defRPr>
                      </a:pPr>
                      <a:r>
                        <a:t>Aportes para Inversión Nación</a:t>
                      </a:r>
                    </a:p>
                  </a:txBody>
                  <a:tcPr>
                    <a:solidFill>
                      <a:srgbClr val="FFFFFF"/>
                    </a:solidFill>
                  </a:tcPr>
                </a:tc>
                <a:tc>
                  <a:txBody>
                    <a:bodyPr/>
                    <a:lstStyle/>
                    <a:p>
                      <a:pPr algn="r">
                        <a:defRPr sz="800" b="0">
                          <a:solidFill>
                            <a:srgbClr val="0F172A"/>
                          </a:solidFill>
                        </a:defRPr>
                      </a:pPr>
                      <a:r>
                        <a:t>$ 7.740,3 M</a:t>
                      </a:r>
                    </a:p>
                  </a:txBody>
                  <a:tcPr>
                    <a:solidFill>
                      <a:srgbClr val="FFFFFF"/>
                    </a:solidFill>
                  </a:tcPr>
                </a:tc>
                <a:tc>
                  <a:txBody>
                    <a:bodyPr/>
                    <a:lstStyle/>
                    <a:p>
                      <a:pPr>
                        <a:defRPr sz="800">
                          <a:solidFill>
                            <a:srgbClr val="0F172A"/>
                          </a:solidFill>
                        </a:defRPr>
                      </a:pPr>
                      <a:r>
                        <a:t>Asignación específica PGN</a:t>
                      </a:r>
                    </a:p>
                  </a:txBody>
                  <a:tcPr>
                    <a:solidFill>
                      <a:srgbClr val="FFFFFF"/>
                    </a:solidFill>
                  </a:tcPr>
                </a:tc>
                <a:tc>
                  <a:txBody>
                    <a:bodyPr/>
                    <a:lstStyle/>
                    <a:p>
                      <a:pPr>
                        <a:defRPr sz="800">
                          <a:solidFill>
                            <a:srgbClr val="0F172A"/>
                          </a:solidFill>
                        </a:defRPr>
                      </a:pPr>
                      <a:r>
                        <a:t>Asignado Ley PGN 2027 (+7,37%)</a:t>
                      </a:r>
                    </a:p>
                  </a:txBody>
                  <a:tcPr>
                    <a:solidFill>
                      <a:srgbClr val="FFFFFF"/>
                    </a:solidFill>
                  </a:tcPr>
                </a:tc>
                <a:tc>
                  <a:txBody>
                    <a:bodyPr/>
                    <a:lstStyle/>
                    <a:p>
                      <a:pPr algn="r">
                        <a:defRPr sz="800" b="1">
                          <a:solidFill>
                            <a:srgbClr val="0F172A"/>
                          </a:solidFill>
                        </a:defRPr>
                      </a:pPr>
                      <a:r>
                        <a:t>$ 8.311,0 M</a:t>
                      </a:r>
                    </a:p>
                  </a:txBody>
                  <a:tcPr>
                    <a:solidFill>
                      <a:srgbClr val="FFFFFF"/>
                    </a:solidFill>
                  </a:tcPr>
                </a:tc>
              </a:tr>
              <a:tr h="394854">
                <a:tc>
                  <a:txBody>
                    <a:bodyPr/>
                    <a:lstStyle/>
                    <a:p>
                      <a:pPr>
                        <a:defRPr sz="800" b="1">
                          <a:solidFill>
                            <a:srgbClr val="D97706"/>
                          </a:solidFill>
                        </a:defRPr>
                      </a:pPr>
                      <a:r>
                        <a:t>R-17</a:t>
                      </a:r>
                    </a:p>
                  </a:txBody>
                  <a:tcPr>
                    <a:solidFill>
                      <a:srgbClr val="F8FAFC"/>
                    </a:solidFill>
                  </a:tcPr>
                </a:tc>
                <a:tc>
                  <a:txBody>
                    <a:bodyPr/>
                    <a:lstStyle/>
                    <a:p>
                      <a:pPr>
                        <a:defRPr sz="800">
                          <a:solidFill>
                            <a:srgbClr val="0F172A"/>
                          </a:solidFill>
                        </a:defRPr>
                      </a:pPr>
                      <a:r>
                        <a:t>Descuento por Votación</a:t>
                      </a:r>
                    </a:p>
                  </a:txBody>
                  <a:tcPr>
                    <a:solidFill>
                      <a:srgbClr val="F8FAFC"/>
                    </a:solidFill>
                  </a:tcPr>
                </a:tc>
                <a:tc>
                  <a:txBody>
                    <a:bodyPr/>
                    <a:lstStyle/>
                    <a:p>
                      <a:pPr algn="r">
                        <a:defRPr sz="800" b="0">
                          <a:solidFill>
                            <a:srgbClr val="0F172A"/>
                          </a:solidFill>
                        </a:defRPr>
                      </a:pPr>
                      <a:r>
                        <a:t>$ 5.643,5 M</a:t>
                      </a:r>
                    </a:p>
                  </a:txBody>
                  <a:tcPr>
                    <a:solidFill>
                      <a:srgbClr val="F8FAFC"/>
                    </a:solidFill>
                  </a:tcPr>
                </a:tc>
                <a:tc>
                  <a:txBody>
                    <a:bodyPr/>
                    <a:lstStyle/>
                    <a:p>
                      <a:pPr>
                        <a:defRPr sz="800">
                          <a:solidFill>
                            <a:srgbClr val="0F172A"/>
                          </a:solidFill>
                        </a:defRPr>
                      </a:pPr>
                      <a:r>
                        <a:t>Certificados electorales / PGN</a:t>
                      </a:r>
                    </a:p>
                  </a:txBody>
                  <a:tcPr>
                    <a:solidFill>
                      <a:srgbClr val="F8FAFC"/>
                    </a:solidFill>
                  </a:tcPr>
                </a:tc>
                <a:tc>
                  <a:txBody>
                    <a:bodyPr/>
                    <a:lstStyle/>
                    <a:p>
                      <a:pPr>
                        <a:defRPr sz="800">
                          <a:solidFill>
                            <a:srgbClr val="0F172A"/>
                          </a:solidFill>
                        </a:defRPr>
                      </a:pPr>
                      <a:r>
                        <a:t>Aumento Calculado PGN (+6,44%)</a:t>
                      </a:r>
                    </a:p>
                  </a:txBody>
                  <a:tcPr>
                    <a:solidFill>
                      <a:srgbClr val="F8FAFC"/>
                    </a:solidFill>
                  </a:tcPr>
                </a:tc>
                <a:tc>
                  <a:txBody>
                    <a:bodyPr/>
                    <a:lstStyle/>
                    <a:p>
                      <a:pPr algn="r">
                        <a:defRPr sz="800" b="1">
                          <a:solidFill>
                            <a:srgbClr val="0F172A"/>
                          </a:solidFill>
                        </a:defRPr>
                      </a:pPr>
                      <a:r>
                        <a:t>$ 6.007,0 M</a:t>
                      </a:r>
                    </a:p>
                  </a:txBody>
                  <a:tcPr>
                    <a:solidFill>
                      <a:srgbClr val="F8FAFC"/>
                    </a:solidFill>
                  </a:tcPr>
                </a:tc>
              </a:tr>
              <a:tr h="394854">
                <a:tc>
                  <a:txBody>
                    <a:bodyPr/>
                    <a:lstStyle/>
                    <a:p>
                      <a:pPr>
                        <a:defRPr sz="800" b="1">
                          <a:solidFill>
                            <a:srgbClr val="D97706"/>
                          </a:solidFill>
                        </a:defRPr>
                      </a:pPr>
                      <a:r>
                        <a:t>R-18</a:t>
                      </a:r>
                    </a:p>
                  </a:txBody>
                  <a:tcPr>
                    <a:solidFill>
                      <a:srgbClr val="FFFFFF"/>
                    </a:solidFill>
                  </a:tcPr>
                </a:tc>
                <a:tc>
                  <a:txBody>
                    <a:bodyPr/>
                    <a:lstStyle/>
                    <a:p>
                      <a:pPr>
                        <a:defRPr sz="800">
                          <a:solidFill>
                            <a:srgbClr val="0F172A"/>
                          </a:solidFill>
                        </a:defRPr>
                      </a:pPr>
                      <a:r>
                        <a:t>Artículo 87 CESU</a:t>
                      </a:r>
                    </a:p>
                  </a:txBody>
                  <a:tcPr>
                    <a:solidFill>
                      <a:srgbClr val="FFFFFF"/>
                    </a:solidFill>
                  </a:tcPr>
                </a:tc>
                <a:tc>
                  <a:txBody>
                    <a:bodyPr/>
                    <a:lstStyle/>
                    <a:p>
                      <a:pPr algn="r">
                        <a:defRPr sz="800" b="0">
                          <a:solidFill>
                            <a:srgbClr val="0F172A"/>
                          </a:solidFill>
                        </a:defRPr>
                      </a:pPr>
                      <a:r>
                        <a:t>$ 2.110,2 M</a:t>
                      </a:r>
                    </a:p>
                  </a:txBody>
                  <a:tcPr>
                    <a:solidFill>
                      <a:srgbClr val="FFFFFF"/>
                    </a:solidFill>
                  </a:tcPr>
                </a:tc>
                <a:tc>
                  <a:txBody>
                    <a:bodyPr/>
                    <a:lstStyle/>
                    <a:p>
                      <a:pPr>
                        <a:defRPr sz="800">
                          <a:solidFill>
                            <a:srgbClr val="0F172A"/>
                          </a:solidFill>
                        </a:defRPr>
                      </a:pPr>
                      <a:r>
                        <a:t>Distribución CESU / PGN</a:t>
                      </a:r>
                    </a:p>
                  </a:txBody>
                  <a:tcPr>
                    <a:solidFill>
                      <a:srgbClr val="FFFFFF"/>
                    </a:solidFill>
                  </a:tcPr>
                </a:tc>
                <a:tc>
                  <a:txBody>
                    <a:bodyPr/>
                    <a:lstStyle/>
                    <a:p>
                      <a:pPr>
                        <a:defRPr sz="800">
                          <a:solidFill>
                            <a:srgbClr val="0F172A"/>
                          </a:solidFill>
                        </a:defRPr>
                      </a:pPr>
                      <a:r>
                        <a:t>Aumento Calculado PGN (+6,44%)</a:t>
                      </a:r>
                    </a:p>
                  </a:txBody>
                  <a:tcPr>
                    <a:solidFill>
                      <a:srgbClr val="FFFFFF"/>
                    </a:solidFill>
                  </a:tcPr>
                </a:tc>
                <a:tc>
                  <a:txBody>
                    <a:bodyPr/>
                    <a:lstStyle/>
                    <a:p>
                      <a:pPr algn="r">
                        <a:defRPr sz="800" b="1">
                          <a:solidFill>
                            <a:srgbClr val="0F172A"/>
                          </a:solidFill>
                        </a:defRPr>
                      </a:pPr>
                      <a:r>
                        <a:t>$ 2.246,1 M</a:t>
                      </a:r>
                    </a:p>
                  </a:txBody>
                  <a:tcPr>
                    <a:solidFill>
                      <a:srgbClr val="FFFFFF"/>
                    </a:solidFill>
                  </a:tcPr>
                </a:tc>
              </a:tr>
              <a:tr h="394854">
                <a:tc>
                  <a:txBody>
                    <a:bodyPr/>
                    <a:lstStyle/>
                    <a:p>
                      <a:pPr>
                        <a:defRPr sz="800" b="1">
                          <a:solidFill>
                            <a:srgbClr val="D97706"/>
                          </a:solidFill>
                        </a:defRPr>
                      </a:pPr>
                      <a:r>
                        <a:t>R-20</a:t>
                      </a:r>
                    </a:p>
                  </a:txBody>
                  <a:tcPr>
                    <a:solidFill>
                      <a:srgbClr val="F8FAFC"/>
                    </a:solidFill>
                  </a:tcPr>
                </a:tc>
                <a:tc>
                  <a:txBody>
                    <a:bodyPr/>
                    <a:lstStyle/>
                    <a:p>
                      <a:pPr>
                        <a:defRPr sz="800">
                          <a:solidFill>
                            <a:srgbClr val="0F172A"/>
                          </a:solidFill>
                        </a:defRPr>
                      </a:pPr>
                      <a:r>
                        <a:t>Recursos Propios (10 conceptos)</a:t>
                      </a:r>
                    </a:p>
                  </a:txBody>
                  <a:tcPr>
                    <a:solidFill>
                      <a:srgbClr val="F8FAFC"/>
                    </a:solidFill>
                  </a:tcPr>
                </a:tc>
                <a:tc>
                  <a:txBody>
                    <a:bodyPr/>
                    <a:lstStyle/>
                    <a:p>
                      <a:pPr algn="r">
                        <a:defRPr sz="800" b="0">
                          <a:solidFill>
                            <a:srgbClr val="0F172A"/>
                          </a:solidFill>
                        </a:defRPr>
                      </a:pPr>
                      <a:r>
                        <a:t>$ 13.187,8 M</a:t>
                      </a:r>
                    </a:p>
                  </a:txBody>
                  <a:tcPr>
                    <a:solidFill>
                      <a:srgbClr val="F8FAFC"/>
                    </a:solidFill>
                  </a:tcPr>
                </a:tc>
                <a:tc>
                  <a:txBody>
                    <a:bodyPr/>
                    <a:lstStyle/>
                    <a:p>
                      <a:pPr>
                        <a:defRPr sz="800">
                          <a:solidFill>
                            <a:srgbClr val="0F172A"/>
                          </a:solidFill>
                        </a:defRPr>
                      </a:pPr>
                      <a:r>
                        <a:t>Matrícula y servicios UPTC</a:t>
                      </a:r>
                    </a:p>
                  </a:txBody>
                  <a:tcPr>
                    <a:solidFill>
                      <a:srgbClr val="F8FAFC"/>
                    </a:solidFill>
                  </a:tcPr>
                </a:tc>
                <a:tc>
                  <a:txBody>
                    <a:bodyPr/>
                    <a:lstStyle/>
                    <a:p>
                      <a:pPr>
                        <a:defRPr sz="800">
                          <a:solidFill>
                            <a:srgbClr val="0F172A"/>
                          </a:solidFill>
                        </a:defRPr>
                      </a:pPr>
                      <a:r>
                        <a:t>Tasa Macro Institucional (+6,00%)</a:t>
                      </a:r>
                    </a:p>
                  </a:txBody>
                  <a:tcPr>
                    <a:solidFill>
                      <a:srgbClr val="F8FAFC"/>
                    </a:solidFill>
                  </a:tcPr>
                </a:tc>
                <a:tc>
                  <a:txBody>
                    <a:bodyPr/>
                    <a:lstStyle/>
                    <a:p>
                      <a:pPr algn="r">
                        <a:defRPr sz="800" b="1">
                          <a:solidFill>
                            <a:srgbClr val="0F172A"/>
                          </a:solidFill>
                        </a:defRPr>
                      </a:pPr>
                      <a:r>
                        <a:t>$ 13.979,1 M</a:t>
                      </a:r>
                    </a:p>
                  </a:txBody>
                  <a:tcPr>
                    <a:solidFill>
                      <a:srgbClr val="F8FAFC"/>
                    </a:solidFill>
                  </a:tcPr>
                </a:tc>
              </a:tr>
              <a:tr h="394854">
                <a:tc>
                  <a:txBody>
                    <a:bodyPr/>
                    <a:lstStyle/>
                    <a:p>
                      <a:pPr>
                        <a:defRPr sz="800" b="1">
                          <a:solidFill>
                            <a:srgbClr val="D97706"/>
                          </a:solidFill>
                        </a:defRPr>
                      </a:pPr>
                      <a:r>
                        <a:t>R-21</a:t>
                      </a:r>
                    </a:p>
                  </a:txBody>
                  <a:tcPr>
                    <a:solidFill>
                      <a:srgbClr val="FFFFFF"/>
                    </a:solidFill>
                  </a:tcPr>
                </a:tc>
                <a:tc>
                  <a:txBody>
                    <a:bodyPr/>
                    <a:lstStyle/>
                    <a:p>
                      <a:pPr>
                        <a:defRPr sz="800">
                          <a:solidFill>
                            <a:srgbClr val="0F172A"/>
                          </a:solidFill>
                        </a:defRPr>
                      </a:pPr>
                      <a:r>
                        <a:t>Devolución IVA (Art. 92 Ley 30)</a:t>
                      </a:r>
                    </a:p>
                  </a:txBody>
                  <a:tcPr>
                    <a:solidFill>
                      <a:srgbClr val="FFFFFF"/>
                    </a:solidFill>
                  </a:tcPr>
                </a:tc>
                <a:tc>
                  <a:txBody>
                    <a:bodyPr/>
                    <a:lstStyle/>
                    <a:p>
                      <a:pPr algn="r">
                        <a:defRPr sz="800" b="0">
                          <a:solidFill>
                            <a:srgbClr val="0F172A"/>
                          </a:solidFill>
                        </a:defRPr>
                      </a:pPr>
                      <a:r>
                        <a:t>$ 4.672,2 M</a:t>
                      </a:r>
                    </a:p>
                  </a:txBody>
                  <a:tcPr>
                    <a:solidFill>
                      <a:srgbClr val="FFFFFF"/>
                    </a:solidFill>
                  </a:tcPr>
                </a:tc>
                <a:tc>
                  <a:txBody>
                    <a:bodyPr/>
                    <a:lstStyle/>
                    <a:p>
                      <a:pPr>
                        <a:defRPr sz="800">
                          <a:solidFill>
                            <a:srgbClr val="0F172A"/>
                          </a:solidFill>
                        </a:defRPr>
                      </a:pPr>
                      <a:r>
                        <a:t>Compras institucionales gravadas</a:t>
                      </a:r>
                    </a:p>
                  </a:txBody>
                  <a:tcPr>
                    <a:solidFill>
                      <a:srgbClr val="FFFFFF"/>
                    </a:solidFill>
                  </a:tcPr>
                </a:tc>
                <a:tc>
                  <a:txBody>
                    <a:bodyPr/>
                    <a:lstStyle/>
                    <a:p>
                      <a:pPr>
                        <a:defRPr sz="800">
                          <a:solidFill>
                            <a:srgbClr val="0F172A"/>
                          </a:solidFill>
                        </a:defRPr>
                      </a:pPr>
                      <a:r>
                        <a:t>Macro +6,0% / Ref. Holt (+4,66%)</a:t>
                      </a:r>
                    </a:p>
                  </a:txBody>
                  <a:tcPr>
                    <a:solidFill>
                      <a:srgbClr val="FFFFFF"/>
                    </a:solidFill>
                  </a:tcPr>
                </a:tc>
                <a:tc>
                  <a:txBody>
                    <a:bodyPr/>
                    <a:lstStyle/>
                    <a:p>
                      <a:pPr algn="r">
                        <a:defRPr sz="800" b="1">
                          <a:solidFill>
                            <a:srgbClr val="0F172A"/>
                          </a:solidFill>
                        </a:defRPr>
                      </a:pPr>
                      <a:r>
                        <a:t>$ 4.952,6 M</a:t>
                      </a:r>
                    </a:p>
                  </a:txBody>
                  <a:tcPr>
                    <a:solidFill>
                      <a:srgbClr val="FFFFFF"/>
                    </a:solidFill>
                  </a:tcPr>
                </a:tc>
              </a:tr>
              <a:tr h="394860">
                <a:tc>
                  <a:txBody>
                    <a:bodyPr/>
                    <a:lstStyle/>
                    <a:p>
                      <a:pPr>
                        <a:defRPr sz="800" b="1">
                          <a:solidFill>
                            <a:srgbClr val="D97706"/>
                          </a:solidFill>
                        </a:defRPr>
                      </a:pPr>
                      <a:r>
                        <a:t>R-40</a:t>
                      </a:r>
                    </a:p>
                  </a:txBody>
                  <a:tcPr>
                    <a:solidFill>
                      <a:srgbClr val="F8FAFC"/>
                    </a:solidFill>
                  </a:tcPr>
                </a:tc>
                <a:tc>
                  <a:txBody>
                    <a:bodyPr/>
                    <a:lstStyle/>
                    <a:p>
                      <a:pPr>
                        <a:defRPr sz="800">
                          <a:solidFill>
                            <a:srgbClr val="0F172A"/>
                          </a:solidFill>
                        </a:defRPr>
                      </a:pPr>
                      <a:r>
                        <a:t>Estampilla Pro-UPTC Departamental</a:t>
                      </a:r>
                    </a:p>
                  </a:txBody>
                  <a:tcPr>
                    <a:solidFill>
                      <a:srgbClr val="F8FAFC"/>
                    </a:solidFill>
                  </a:tcPr>
                </a:tc>
                <a:tc>
                  <a:txBody>
                    <a:bodyPr/>
                    <a:lstStyle/>
                    <a:p>
                      <a:pPr algn="r">
                        <a:defRPr sz="800" b="0">
                          <a:solidFill>
                            <a:srgbClr val="0F172A"/>
                          </a:solidFill>
                        </a:defRPr>
                      </a:pPr>
                      <a:r>
                        <a:t>$ 5.737,3 M</a:t>
                      </a:r>
                    </a:p>
                  </a:txBody>
                  <a:tcPr>
                    <a:solidFill>
                      <a:srgbClr val="F8FAFC"/>
                    </a:solidFill>
                  </a:tcPr>
                </a:tc>
                <a:tc>
                  <a:txBody>
                    <a:bodyPr/>
                    <a:lstStyle/>
                    <a:p>
                      <a:pPr>
                        <a:defRPr sz="800">
                          <a:solidFill>
                            <a:srgbClr val="0F172A"/>
                          </a:solidFill>
                        </a:defRPr>
                      </a:pPr>
                      <a:r>
                        <a:t>Contratación Gobernación Boyacá</a:t>
                      </a:r>
                    </a:p>
                  </a:txBody>
                  <a:tcPr>
                    <a:solidFill>
                      <a:srgbClr val="F8FAFC"/>
                    </a:solidFill>
                  </a:tcPr>
                </a:tc>
                <a:tc>
                  <a:txBody>
                    <a:bodyPr/>
                    <a:lstStyle/>
                    <a:p>
                      <a:pPr>
                        <a:defRPr sz="800">
                          <a:solidFill>
                            <a:srgbClr val="0F172A"/>
                          </a:solidFill>
                        </a:defRPr>
                      </a:pPr>
                      <a:r>
                        <a:t>Macro +6,0% / Ref. CAGR (+9,05%)</a:t>
                      </a:r>
                    </a:p>
                  </a:txBody>
                  <a:tcPr>
                    <a:solidFill>
                      <a:srgbClr val="F8FAFC"/>
                    </a:solidFill>
                  </a:tcPr>
                </a:tc>
                <a:tc>
                  <a:txBody>
                    <a:bodyPr/>
                    <a:lstStyle/>
                    <a:p>
                      <a:pPr algn="r">
                        <a:defRPr sz="800" b="1">
                          <a:solidFill>
                            <a:srgbClr val="0F172A"/>
                          </a:solidFill>
                        </a:defRPr>
                      </a:pPr>
                      <a:r>
                        <a:t>$ 6.081,5 M</a:t>
                      </a:r>
                    </a:p>
                  </a:txBody>
                  <a:tcPr>
                    <a:solidFill>
                      <a:srgbClr val="F8FAFC"/>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08. RESULTADO CONSOLIDADO | PRESUPUESTO 2027</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El presupuesto institucional proyectado para 2027 alcanza los $493.139,5 Millones COP</a:t>
            </a:r>
          </a:p>
          <a:p>
            <a:pPr>
              <a:spcBef>
                <a:spcPts val="200"/>
              </a:spcBef>
              <a:defRPr sz="1050">
                <a:solidFill>
                  <a:srgbClr val="64748B"/>
                </a:solidFill>
              </a:defRPr>
            </a:pPr>
            <a:r>
              <a:t>Consolidación total de las fuentes de ingreso para la Universidad Pedagógica y Tecnológica de Colombia</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09 / 16</a:t>
            </a:r>
          </a:p>
        </p:txBody>
      </p:sp>
      <p:sp>
        <p:nvSpPr>
          <p:cNvPr id="6" name="Rounded Rectangle 5"/>
          <p:cNvSpPr/>
          <p:nvPr/>
        </p:nvSpPr>
        <p:spPr>
          <a:xfrm>
            <a:off x="731520" y="1691640"/>
            <a:ext cx="10728655"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874519"/>
            <a:ext cx="9997135" cy="1645920"/>
          </a:xfrm>
          <a:prstGeom prst="rect">
            <a:avLst/>
          </a:prstGeom>
          <a:noFill/>
        </p:spPr>
        <p:txBody>
          <a:bodyPr wrap="square">
            <a:spAutoFit/>
          </a:bodyPr>
          <a:lstStyle/>
          <a:p>
            <a:pPr>
              <a:defRPr b="1" sz="1200">
                <a:solidFill>
                  <a:srgbClr val="D97706"/>
                </a:solidFill>
              </a:defRPr>
            </a:pPr>
            <a:r>
              <a:t>PRESUPUESTO GENERAL CONSOLIDADO UPTC 2027</a:t>
            </a:r>
          </a:p>
          <a:p>
            <a:pPr>
              <a:spcBef>
                <a:spcPts val="400"/>
              </a:spcBef>
              <a:defRPr b="1" sz="3600">
                <a:solidFill>
                  <a:srgbClr val="FFFFFF"/>
                </a:solidFill>
              </a:defRPr>
            </a:pPr>
            <a:r>
              <a:t>$ 493.139.540.916 COP</a:t>
            </a:r>
          </a:p>
          <a:p>
            <a:pPr>
              <a:spcBef>
                <a:spcPts val="400"/>
              </a:spcBef>
              <a:defRPr sz="1100">
                <a:solidFill>
                  <a:srgbClr val="CBD5E1"/>
                </a:solidFill>
              </a:defRPr>
            </a:pPr>
            <a:r>
              <a:t>Equivalente a $ 493.139,5 Millones COP   |   Incremento Nominal: +$ 29.557,0 M COP   |   Variación: +6,38% vs. Base 2026</a:t>
            </a:r>
          </a:p>
        </p:txBody>
      </p:sp>
      <p:sp>
        <p:nvSpPr>
          <p:cNvPr id="8" name="Rounded Rectangle 7"/>
          <p:cNvSpPr/>
          <p:nvPr/>
        </p:nvSpPr>
        <p:spPr>
          <a:xfrm>
            <a:off x="731520" y="3931920"/>
            <a:ext cx="342900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3931920"/>
            <a:ext cx="3429000"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4059936"/>
            <a:ext cx="3136392" cy="1874520"/>
          </a:xfrm>
          <a:prstGeom prst="rect">
            <a:avLst/>
          </a:prstGeom>
          <a:noFill/>
        </p:spPr>
        <p:txBody>
          <a:bodyPr wrap="square" lIns="0" tIns="0" rIns="0" bIns="0">
            <a:spAutoFit/>
          </a:bodyPr>
          <a:lstStyle/>
          <a:p>
            <a:pPr>
              <a:defRPr b="1" sz="1900">
                <a:solidFill>
                  <a:srgbClr val="0F172A"/>
                </a:solidFill>
              </a:defRPr>
            </a:pPr>
            <a:r>
              <a:t>$ 468.126,4 M</a:t>
            </a:r>
          </a:p>
          <a:p>
            <a:pPr>
              <a:spcBef>
                <a:spcPts val="200"/>
              </a:spcBef>
              <a:defRPr b="1" sz="850">
                <a:solidFill>
                  <a:srgbClr val="2563EB"/>
                </a:solidFill>
              </a:defRPr>
            </a:pPr>
            <a:r>
              <a:t>GIROS DE LA NACIÓN (7 CONCEPTOS)</a:t>
            </a:r>
          </a:p>
          <a:p>
            <a:pPr>
              <a:spcBef>
                <a:spcPts val="200"/>
              </a:spcBef>
              <a:defRPr sz="800">
                <a:solidFill>
                  <a:srgbClr val="64748B"/>
                </a:solidFill>
              </a:defRPr>
            </a:pPr>
            <a:r>
              <a:t>• Base 2026: $439.985,2 M</a:t>
            </a:r>
            <a:br/>
            <a:r>
              <a:t>• Incremento: +$28.141,2 M (+6,40%)</a:t>
            </a:r>
            <a:br/>
            <a:r>
              <a:t>• Concentra el 94,93% del presupuesto.</a:t>
            </a:r>
          </a:p>
        </p:txBody>
      </p:sp>
      <p:sp>
        <p:nvSpPr>
          <p:cNvPr id="11" name="Rounded Rectangle 10"/>
          <p:cNvSpPr/>
          <p:nvPr/>
        </p:nvSpPr>
        <p:spPr>
          <a:xfrm>
            <a:off x="4389120" y="3931920"/>
            <a:ext cx="342900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9120" y="3931920"/>
            <a:ext cx="3429000"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4059936"/>
            <a:ext cx="3136392" cy="1874520"/>
          </a:xfrm>
          <a:prstGeom prst="rect">
            <a:avLst/>
          </a:prstGeom>
          <a:noFill/>
        </p:spPr>
        <p:txBody>
          <a:bodyPr wrap="square" lIns="0" tIns="0" rIns="0" bIns="0">
            <a:spAutoFit/>
          </a:bodyPr>
          <a:lstStyle/>
          <a:p>
            <a:pPr>
              <a:defRPr b="1" sz="1900">
                <a:solidFill>
                  <a:srgbClr val="0F172A"/>
                </a:solidFill>
              </a:defRPr>
            </a:pPr>
            <a:r>
              <a:t>$ 25.013,1 M</a:t>
            </a:r>
          </a:p>
          <a:p>
            <a:pPr>
              <a:spcBef>
                <a:spcPts val="200"/>
              </a:spcBef>
              <a:defRPr b="1" sz="850">
                <a:solidFill>
                  <a:srgbClr val="D97706"/>
                </a:solidFill>
              </a:defRPr>
            </a:pPr>
            <a:r>
              <a:t>AUTOGESTIÓN INSTITUCIONAL (12 CONCEPTOS)</a:t>
            </a:r>
          </a:p>
          <a:p>
            <a:pPr>
              <a:spcBef>
                <a:spcPts val="200"/>
              </a:spcBef>
              <a:defRPr sz="800">
                <a:solidFill>
                  <a:srgbClr val="64748B"/>
                </a:solidFill>
              </a:defRPr>
            </a:pPr>
            <a:r>
              <a:t>• Base 2026: $23.597,3 M</a:t>
            </a:r>
            <a:br/>
            <a:r>
              <a:t>• Incremento: +$1.415,8 M (+6,00%)</a:t>
            </a:r>
            <a:br/>
            <a:r>
              <a:t>• Representa el 5,07% del presupuesto.</a:t>
            </a:r>
          </a:p>
        </p:txBody>
      </p:sp>
      <p:sp>
        <p:nvSpPr>
          <p:cNvPr id="14" name="Rounded Rectangle 13"/>
          <p:cNvSpPr/>
          <p:nvPr/>
        </p:nvSpPr>
        <p:spPr>
          <a:xfrm>
            <a:off x="8046720" y="3931920"/>
            <a:ext cx="34134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0" y="3931920"/>
            <a:ext cx="3413455"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059936"/>
            <a:ext cx="3120847" cy="1874520"/>
          </a:xfrm>
          <a:prstGeom prst="rect">
            <a:avLst/>
          </a:prstGeom>
          <a:noFill/>
        </p:spPr>
        <p:txBody>
          <a:bodyPr wrap="square" lIns="0" tIns="0" rIns="0" bIns="0">
            <a:spAutoFit/>
          </a:bodyPr>
          <a:lstStyle/>
          <a:p>
            <a:pPr>
              <a:defRPr b="1" sz="1900">
                <a:solidFill>
                  <a:srgbClr val="0F172A"/>
                </a:solidFill>
              </a:defRPr>
            </a:pPr>
            <a:r>
              <a:t>+$ 29.557,0 M</a:t>
            </a:r>
          </a:p>
          <a:p>
            <a:pPr>
              <a:spcBef>
                <a:spcPts val="200"/>
              </a:spcBef>
              <a:defRPr b="1" sz="850">
                <a:solidFill>
                  <a:srgbClr val="10B981"/>
                </a:solidFill>
              </a:defRPr>
            </a:pPr>
            <a:r>
              <a:t>MASA MONETARIA ADICIONAL</a:t>
            </a:r>
          </a:p>
          <a:p>
            <a:pPr>
              <a:spcBef>
                <a:spcPts val="200"/>
              </a:spcBef>
              <a:defRPr sz="800">
                <a:solidFill>
                  <a:srgbClr val="64748B"/>
                </a:solidFill>
              </a:defRPr>
            </a:pPr>
            <a:r>
              <a:t>• Nación aporta el 95,2% de los nuevos recursos.</a:t>
            </a:r>
            <a:br/>
            <a:r>
              <a:t>• Autogestión aporta el 4,8% restante.</a:t>
            </a:r>
            <a:br/>
            <a:r>
              <a:t>• Absorbe aumentos de nómina e inflación.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09. ESTRUCTURA FINANCIERA | PARTICIPACIÓN Y CONCENTRACIÓN</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Las transferencias del orden nacional concentran el 94,9% del financiamiento institucional</a:t>
            </a:r>
          </a:p>
          <a:p>
            <a:pPr>
              <a:spcBef>
                <a:spcPts val="200"/>
              </a:spcBef>
              <a:defRPr sz="1050">
                <a:solidFill>
                  <a:srgbClr val="64748B"/>
                </a:solidFill>
              </a:defRPr>
            </a:pPr>
            <a:r>
              <a:t>Distribución porcentual de los 10 recursos sobre el total consolidado de $493.139,5 M COP</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10 / 16</a:t>
            </a:r>
          </a:p>
        </p:txBody>
      </p:sp>
      <p:sp>
        <p:nvSpPr>
          <p:cNvPr id="6" name="Rounded Rectangle 5"/>
          <p:cNvSpPr/>
          <p:nvPr/>
        </p:nvSpPr>
        <p:spPr>
          <a:xfrm>
            <a:off x="731520" y="1691640"/>
            <a:ext cx="6217920"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5852160" cy="4023360"/>
          </a:xfrm>
          <a:prstGeom prst="rect">
            <a:avLst/>
          </a:prstGeom>
          <a:noFill/>
        </p:spPr>
        <p:txBody>
          <a:bodyPr wrap="square">
            <a:spAutoFit/>
          </a:bodyPr>
          <a:lstStyle/>
          <a:p>
            <a:pPr>
              <a:defRPr b="1" sz="1150">
                <a:solidFill>
                  <a:srgbClr val="D97706"/>
                </a:solidFill>
              </a:defRPr>
            </a:pPr>
            <a:r>
              <a:t>PARTICIPACIÓN PRESUPUESTAL POR RECURSO 2027</a:t>
            </a:r>
          </a:p>
          <a:p>
            <a:pPr>
              <a:spcBef>
                <a:spcPts val="300"/>
              </a:spcBef>
              <a:defRPr sz="850">
                <a:solidFill>
                  <a:srgbClr val="0F172A"/>
                </a:solidFill>
              </a:defRPr>
            </a:pPr>
            <a:r>
              <a:t>1. R10 - Aportes Nación Funcionamiento: 78.57%  ($ 387.451,5 M)</a:t>
            </a:r>
          </a:p>
          <a:p>
            <a:pPr>
              <a:spcBef>
                <a:spcPts val="300"/>
              </a:spcBef>
              <a:defRPr sz="850">
                <a:solidFill>
                  <a:srgbClr val="0F172A"/>
                </a:solidFill>
              </a:defRPr>
            </a:pPr>
            <a:r>
              <a:t>2. R14 - Política de Gratuidad (FSE): 10.71%  ($ 52.834,8 M)</a:t>
            </a:r>
          </a:p>
          <a:p>
            <a:pPr>
              <a:spcBef>
                <a:spcPts val="300"/>
              </a:spcBef>
              <a:defRPr sz="850">
                <a:solidFill>
                  <a:srgbClr val="0F172A"/>
                </a:solidFill>
              </a:defRPr>
            </a:pPr>
            <a:r>
              <a:t>3. R20 - Recursos Propios (10 conceptos): 2.83%  ($ 13.979,1 M)</a:t>
            </a:r>
          </a:p>
          <a:p>
            <a:pPr>
              <a:spcBef>
                <a:spcPts val="300"/>
              </a:spcBef>
              <a:defRPr sz="850">
                <a:solidFill>
                  <a:srgbClr val="0F172A"/>
                </a:solidFill>
              </a:defRPr>
            </a:pPr>
            <a:r>
              <a:t>4. R12 - Estampilla Pro-UNAL: 1.94%  ($ 9.556,9 M)</a:t>
            </a:r>
          </a:p>
          <a:p>
            <a:pPr>
              <a:spcBef>
                <a:spcPts val="300"/>
              </a:spcBef>
              <a:defRPr sz="850">
                <a:solidFill>
                  <a:srgbClr val="0F172A"/>
                </a:solidFill>
              </a:defRPr>
            </a:pPr>
            <a:r>
              <a:t>5. R16 - Aportes para Inversión Nación: 1.69%  ($ 8.311,0 M)</a:t>
            </a:r>
          </a:p>
          <a:p>
            <a:pPr>
              <a:spcBef>
                <a:spcPts val="300"/>
              </a:spcBef>
              <a:defRPr sz="850">
                <a:solidFill>
                  <a:srgbClr val="0F172A"/>
                </a:solidFill>
              </a:defRPr>
            </a:pPr>
            <a:r>
              <a:t>6. R40 - Estampilla Pro-UPTC Departamental: 1.23%  ($ 6.081,5 M)</a:t>
            </a:r>
          </a:p>
          <a:p>
            <a:pPr>
              <a:spcBef>
                <a:spcPts val="300"/>
              </a:spcBef>
              <a:defRPr sz="850">
                <a:solidFill>
                  <a:srgbClr val="0F172A"/>
                </a:solidFill>
              </a:defRPr>
            </a:pPr>
            <a:r>
              <a:t>7. R17 - Devolución Descuento Votación: 1.22%  ($ 6.007,0 M)</a:t>
            </a:r>
          </a:p>
          <a:p>
            <a:pPr>
              <a:spcBef>
                <a:spcPts val="300"/>
              </a:spcBef>
              <a:defRPr sz="850">
                <a:solidFill>
                  <a:srgbClr val="0F172A"/>
                </a:solidFill>
              </a:defRPr>
            </a:pPr>
            <a:r>
              <a:t>8. R21 - Devolución IVA (Art. 92 Ley 30): 1.00%  ($ 4.952,6 M)</a:t>
            </a:r>
          </a:p>
          <a:p>
            <a:pPr>
              <a:spcBef>
                <a:spcPts val="300"/>
              </a:spcBef>
              <a:defRPr sz="850">
                <a:solidFill>
                  <a:srgbClr val="0F172A"/>
                </a:solidFill>
              </a:defRPr>
            </a:pPr>
            <a:r>
              <a:t>9. R18 - Artículo 87 CESU: 0.46%  ($ 2.246,1 M)</a:t>
            </a:r>
          </a:p>
          <a:p>
            <a:pPr>
              <a:spcBef>
                <a:spcPts val="300"/>
              </a:spcBef>
              <a:defRPr sz="850">
                <a:solidFill>
                  <a:srgbClr val="0F172A"/>
                </a:solidFill>
              </a:defRPr>
            </a:pPr>
            <a:r>
              <a:t>10. R13 - Excedentes Cooperativas: 0.35%  ($ 1.719,1 M)</a:t>
            </a:r>
          </a:p>
        </p:txBody>
      </p:sp>
      <p:sp>
        <p:nvSpPr>
          <p:cNvPr id="8" name="Rounded Rectangle 7"/>
          <p:cNvSpPr/>
          <p:nvPr/>
        </p:nvSpPr>
        <p:spPr>
          <a:xfrm>
            <a:off x="7132320" y="1691640"/>
            <a:ext cx="4327855"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1828800"/>
            <a:ext cx="3962095" cy="4023360"/>
          </a:xfrm>
          <a:prstGeom prst="rect">
            <a:avLst/>
          </a:prstGeom>
          <a:noFill/>
        </p:spPr>
        <p:txBody>
          <a:bodyPr wrap="square">
            <a:spAutoFit/>
          </a:bodyPr>
          <a:lstStyle/>
          <a:p>
            <a:pPr>
              <a:defRPr b="1" sz="1150">
                <a:solidFill>
                  <a:srgbClr val="2563EB"/>
                </a:solidFill>
              </a:defRPr>
            </a:pPr>
            <a:r>
              <a:t>DIAGNÓSTICO ESTRUCTURAL</a:t>
            </a:r>
          </a:p>
          <a:p>
            <a:pPr>
              <a:spcBef>
                <a:spcPts val="800"/>
              </a:spcBef>
              <a:defRPr b="1" sz="950">
                <a:solidFill>
                  <a:srgbClr val="1E293B"/>
                </a:solidFill>
              </a:defRPr>
            </a:pPr>
            <a:r>
              <a:t>• Alta Concentración:</a:t>
            </a:r>
          </a:p>
          <a:p>
            <a:pPr>
              <a:spcBef>
                <a:spcPts val="200"/>
              </a:spcBef>
              <a:defRPr sz="850">
                <a:solidFill>
                  <a:srgbClr val="64748B"/>
                </a:solidFill>
              </a:defRPr>
            </a:pPr>
            <a:r>
              <a:t>Los dos primeros conceptos (R10 y R14) suman el 89,28% del presupuesto. Esto significa que casi 9 de cada 10 pesos están directamente vinculados a transferencias del Ministerio de Educación.</a:t>
            </a:r>
          </a:p>
          <a:p>
            <a:pPr>
              <a:spcBef>
                <a:spcPts val="800"/>
              </a:spcBef>
              <a:defRPr b="1" sz="950">
                <a:solidFill>
                  <a:srgbClr val="1E293B"/>
                </a:solidFill>
              </a:defRPr>
            </a:pPr>
            <a:r>
              <a:t>• Dependencia Fiscal:</a:t>
            </a:r>
          </a:p>
          <a:p>
            <a:pPr>
              <a:spcBef>
                <a:spcPts val="200"/>
              </a:spcBef>
              <a:defRPr sz="850">
                <a:solidFill>
                  <a:srgbClr val="64748B"/>
                </a:solidFill>
              </a:defRPr>
            </a:pPr>
            <a:r>
              <a:t>El 94,93% del presupuesto depende de la Nación. Cualquier modificación en el trámite legislativo del PGN o retraso en resoluciones ministeriales impacta de forma inmediata la caja institucional.</a:t>
            </a:r>
          </a:p>
          <a:p>
            <a:pPr>
              <a:spcBef>
                <a:spcPts val="800"/>
              </a:spcBef>
              <a:defRPr b="1" sz="950">
                <a:solidFill>
                  <a:srgbClr val="1E293B"/>
                </a:solidFill>
              </a:defRPr>
            </a:pPr>
            <a:r>
              <a:t>• Rol Estratégico de la Autogestión:</a:t>
            </a:r>
          </a:p>
          <a:p>
            <a:pPr>
              <a:spcBef>
                <a:spcPts val="200"/>
              </a:spcBef>
              <a:defRPr sz="850">
                <a:solidFill>
                  <a:srgbClr val="64748B"/>
                </a:solidFill>
              </a:defRPr>
            </a:pPr>
            <a:r>
              <a:t>Aunque los Recursos Propios (R20), IVA (R21) y Estampilla (R40) representan el 5,07% ($25.013 M), constituyen la única fuente con autonomía plena para gastos no elegibles en giros nacionales.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10. INCIDENCIA PRESUPUESTAL | RECURSOS CLAVE</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Dos conceptos concentran el 89,3% del presupuesto y determinan la salud financiera de la UPTC</a:t>
            </a:r>
          </a:p>
          <a:p>
            <a:pPr>
              <a:spcBef>
                <a:spcPts val="200"/>
              </a:spcBef>
              <a:defRPr sz="1050">
                <a:solidFill>
                  <a:srgbClr val="64748B"/>
                </a:solidFill>
              </a:defRPr>
            </a:pPr>
            <a:r>
              <a:t>Ficha técnica y relevancia operativa de los cuatro principales fondos universitarios</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11 / 16</a:t>
            </a:r>
          </a:p>
        </p:txBody>
      </p:sp>
      <p:sp>
        <p:nvSpPr>
          <p:cNvPr id="6" name="Rounded Rectangle 5"/>
          <p:cNvSpPr/>
          <p:nvPr/>
        </p:nvSpPr>
        <p:spPr>
          <a:xfrm>
            <a:off x="731520" y="1691640"/>
            <a:ext cx="52422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4225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01368"/>
            <a:ext cx="4876495" cy="1874519"/>
          </a:xfrm>
          <a:prstGeom prst="rect">
            <a:avLst/>
          </a:prstGeom>
          <a:noFill/>
        </p:spPr>
        <p:txBody>
          <a:bodyPr wrap="square">
            <a:spAutoFit/>
          </a:bodyPr>
          <a:lstStyle/>
          <a:p>
            <a:pPr>
              <a:defRPr b="1" sz="1000">
                <a:solidFill>
                  <a:srgbClr val="2563EB"/>
                </a:solidFill>
              </a:defRPr>
            </a:pPr>
            <a:r>
              <a:t>TOP 1: APORTES NACIÓN FUNCIONAMIENTO (R-10)</a:t>
            </a:r>
          </a:p>
          <a:p>
            <a:pPr>
              <a:spcBef>
                <a:spcPts val="200"/>
              </a:spcBef>
              <a:defRPr b="1" sz="1700">
                <a:solidFill>
                  <a:srgbClr val="0F172A"/>
                </a:solidFill>
              </a:defRPr>
            </a:pPr>
            <a:r>
              <a:t>$ 387.451,5 M  (78,57% del Presupuesto)</a:t>
            </a:r>
          </a:p>
          <a:p>
            <a:pPr>
              <a:spcBef>
                <a:spcPts val="200"/>
              </a:spcBef>
              <a:defRPr b="1" sz="850">
                <a:solidFill>
                  <a:srgbClr val="1E293B"/>
                </a:solidFill>
              </a:defRPr>
            </a:pPr>
            <a:r>
              <a:t>Base 2026: $364.009,3 M   |   Incremento: +$23.442,2 M (+6,44%)</a:t>
            </a:r>
          </a:p>
          <a:p>
            <a:pPr>
              <a:spcBef>
                <a:spcPts val="400"/>
              </a:spcBef>
              <a:defRPr sz="850">
                <a:solidFill>
                  <a:srgbClr val="64748B"/>
                </a:solidFill>
              </a:defRPr>
            </a:pPr>
            <a:r>
              <a:t>Es el corazón operativo del alma máter. Financia el pago de salarios y prestaciones sociales de la nómina docente y administrativa de planta y transitoria. Protegido por el Art. 86 de la Ley 30 y amparado en el techo legal PGN 2027.</a:t>
            </a:r>
          </a:p>
        </p:txBody>
      </p:sp>
      <p:sp>
        <p:nvSpPr>
          <p:cNvPr id="9" name="Rounded Rectangle 8"/>
          <p:cNvSpPr/>
          <p:nvPr/>
        </p:nvSpPr>
        <p:spPr>
          <a:xfrm>
            <a:off x="6217920" y="1691640"/>
            <a:ext cx="52422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91640"/>
            <a:ext cx="524225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01368"/>
            <a:ext cx="4876495" cy="1874519"/>
          </a:xfrm>
          <a:prstGeom prst="rect">
            <a:avLst/>
          </a:prstGeom>
          <a:noFill/>
        </p:spPr>
        <p:txBody>
          <a:bodyPr wrap="square">
            <a:spAutoFit/>
          </a:bodyPr>
          <a:lstStyle/>
          <a:p>
            <a:pPr>
              <a:defRPr b="1" sz="1000">
                <a:solidFill>
                  <a:srgbClr val="D97706"/>
                </a:solidFill>
              </a:defRPr>
            </a:pPr>
            <a:r>
              <a:t>TOP 2: POLÍTICA DE GRATUIDAD EN MATRÍCULA (R-14)</a:t>
            </a:r>
          </a:p>
          <a:p>
            <a:pPr>
              <a:spcBef>
                <a:spcPts val="200"/>
              </a:spcBef>
              <a:defRPr b="1" sz="1700">
                <a:solidFill>
                  <a:srgbClr val="0F172A"/>
                </a:solidFill>
              </a:defRPr>
            </a:pPr>
            <a:r>
              <a:t>$ 52.834,8 M  (10,71% del Presupuesto)</a:t>
            </a:r>
          </a:p>
          <a:p>
            <a:pPr>
              <a:spcBef>
                <a:spcPts val="200"/>
              </a:spcBef>
              <a:defRPr b="1" sz="850">
                <a:solidFill>
                  <a:srgbClr val="1E293B"/>
                </a:solidFill>
              </a:defRPr>
            </a:pPr>
            <a:r>
              <a:t>Base 2026: $49.844,2 M   |   Incremento: +$2.990,7 M (+6,00%)</a:t>
            </a:r>
          </a:p>
          <a:p>
            <a:pPr>
              <a:spcBef>
                <a:spcPts val="400"/>
              </a:spcBef>
              <a:defRPr sz="850">
                <a:solidFill>
                  <a:srgbClr val="64748B"/>
                </a:solidFill>
              </a:defRPr>
            </a:pPr>
            <a:r>
              <a:t>Sustituyó los ingresos tradicionales de matrícula familiar. Cubre los costos educativos de más de 25.000 estudiantes de pregrado bajo la Ley 2307 de 2023. Requiere estricta sincronización con las resoluciones de giro del Fondo Solidario MEN.</a:t>
            </a:r>
          </a:p>
        </p:txBody>
      </p:sp>
      <p:sp>
        <p:nvSpPr>
          <p:cNvPr id="12" name="Rounded Rectangle 11"/>
          <p:cNvSpPr/>
          <p:nvPr/>
        </p:nvSpPr>
        <p:spPr>
          <a:xfrm>
            <a:off x="731520" y="3931920"/>
            <a:ext cx="52422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931920"/>
            <a:ext cx="5242255" cy="54864"/>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41648"/>
            <a:ext cx="4876495" cy="1874519"/>
          </a:xfrm>
          <a:prstGeom prst="rect">
            <a:avLst/>
          </a:prstGeom>
          <a:noFill/>
        </p:spPr>
        <p:txBody>
          <a:bodyPr wrap="square">
            <a:spAutoFit/>
          </a:bodyPr>
          <a:lstStyle/>
          <a:p>
            <a:pPr>
              <a:defRPr b="1" sz="1000">
                <a:solidFill>
                  <a:srgbClr val="9333EA"/>
                </a:solidFill>
              </a:defRPr>
            </a:pPr>
            <a:r>
              <a:t>TOP 3: RECURSOS PROPIOS INSTITUCIONALES (R-20)</a:t>
            </a:r>
          </a:p>
          <a:p>
            <a:pPr>
              <a:spcBef>
                <a:spcPts val="200"/>
              </a:spcBef>
              <a:defRPr b="1" sz="1700">
                <a:solidFill>
                  <a:srgbClr val="0F172A"/>
                </a:solidFill>
              </a:defRPr>
            </a:pPr>
            <a:r>
              <a:t>$ 13.979,1 M  (2,83% del Presupuesto)</a:t>
            </a:r>
          </a:p>
          <a:p>
            <a:pPr>
              <a:spcBef>
                <a:spcPts val="200"/>
              </a:spcBef>
              <a:defRPr b="1" sz="850">
                <a:solidFill>
                  <a:srgbClr val="1E293B"/>
                </a:solidFill>
              </a:defRPr>
            </a:pPr>
            <a:r>
              <a:t>Base 2026: $13.187,8 M   |   Incremento: +$791,3 M (+6,00%)</a:t>
            </a:r>
          </a:p>
          <a:p>
            <a:pPr>
              <a:spcBef>
                <a:spcPts val="400"/>
              </a:spcBef>
              <a:defRPr sz="850">
                <a:solidFill>
                  <a:srgbClr val="64748B"/>
                </a:solidFill>
              </a:defRPr>
            </a:pPr>
            <a:r>
              <a:t>Consolida 10 conceptos de autogestión académica y administrativa (posgrados, certificaciones, derechos de grado, laboratorios y servicios conexos). Única fuente de libre asignación para gastos de operación imprevistos.</a:t>
            </a:r>
          </a:p>
        </p:txBody>
      </p:sp>
      <p:sp>
        <p:nvSpPr>
          <p:cNvPr id="15" name="Rounded Rectangle 14"/>
          <p:cNvSpPr/>
          <p:nvPr/>
        </p:nvSpPr>
        <p:spPr>
          <a:xfrm>
            <a:off x="6217920" y="3931920"/>
            <a:ext cx="5242255"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931920"/>
            <a:ext cx="524225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041648"/>
            <a:ext cx="4876495" cy="1874519"/>
          </a:xfrm>
          <a:prstGeom prst="rect">
            <a:avLst/>
          </a:prstGeom>
          <a:noFill/>
        </p:spPr>
        <p:txBody>
          <a:bodyPr wrap="square">
            <a:spAutoFit/>
          </a:bodyPr>
          <a:lstStyle/>
          <a:p>
            <a:pPr>
              <a:defRPr b="1" sz="1000">
                <a:solidFill>
                  <a:srgbClr val="10B981"/>
                </a:solidFill>
              </a:defRPr>
            </a:pPr>
            <a:r>
              <a:t>TOP 4: APORTES PARA INVERSIÓN NACIÓN (R-16)</a:t>
            </a:r>
          </a:p>
          <a:p>
            <a:pPr>
              <a:spcBef>
                <a:spcPts val="200"/>
              </a:spcBef>
              <a:defRPr b="1" sz="1700">
                <a:solidFill>
                  <a:srgbClr val="0F172A"/>
                </a:solidFill>
              </a:defRPr>
            </a:pPr>
            <a:r>
              <a:t>$ 8.311,0 M  (1,69% del Presupuesto)</a:t>
            </a:r>
          </a:p>
          <a:p>
            <a:pPr>
              <a:spcBef>
                <a:spcPts val="200"/>
              </a:spcBef>
              <a:defRPr b="1" sz="850">
                <a:solidFill>
                  <a:srgbClr val="1E293B"/>
                </a:solidFill>
              </a:defRPr>
            </a:pPr>
            <a:r>
              <a:t>Base 2026: $7.740,3 M   |   Incremento: +$570,7 M (+7,37%)</a:t>
            </a:r>
          </a:p>
          <a:p>
            <a:pPr>
              <a:spcBef>
                <a:spcPts val="400"/>
              </a:spcBef>
              <a:defRPr sz="850">
                <a:solidFill>
                  <a:srgbClr val="64748B"/>
                </a:solidFill>
              </a:defRPr>
            </a:pPr>
            <a:r>
              <a:t>Recursos fijados en la Ley PGN para proyectos de fomento de la calidad, modernización tecnológica e infraestructura física. Presenta destinación legal exclusiva a inversión (Unidad Ejecutora 2202 del PGN).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11. COMPARATIVA HISTÓRICA | BASE 2026 VS. PROYECCIÓN 2027</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El crecimiento nominal se distribuye en estricta proporción a los pesos relativos de cada fondo</a:t>
            </a:r>
          </a:p>
          <a:p>
            <a:pPr>
              <a:spcBef>
                <a:spcPts val="200"/>
              </a:spcBef>
              <a:defRPr sz="1050">
                <a:solidFill>
                  <a:srgbClr val="64748B"/>
                </a:solidFill>
              </a:defRPr>
            </a:pPr>
            <a:r>
              <a:t>Contraste entre la línea base fiscal 2026 y el escenario proyectado 2027 por recurso financiero</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12 / 16</a:t>
            </a:r>
          </a:p>
        </p:txBody>
      </p:sp>
      <p:graphicFrame>
        <p:nvGraphicFramePr>
          <p:cNvPr id="6" name="Chart 5"/>
          <p:cNvGraphicFramePr>
            <a:graphicFrameLocks noGrp="1"/>
          </p:cNvGraphicFramePr>
          <p:nvPr/>
        </p:nvGraphicFramePr>
        <p:xfrm>
          <a:off x="731520" y="1691640"/>
          <a:ext cx="6858000" cy="4343400"/>
        </p:xfrm>
        <a:graphic>
          <a:graphicData uri="http://schemas.openxmlformats.org/drawingml/2006/chart">
            <c:chart xmlns:c="http://schemas.openxmlformats.org/drawingml/2006/chart" r:id="rId2"/>
          </a:graphicData>
        </a:graphic>
      </p:graphicFrame>
      <p:sp>
        <p:nvSpPr>
          <p:cNvPr id="7" name="Rounded Rectangle 6"/>
          <p:cNvSpPr/>
          <p:nvPr/>
        </p:nvSpPr>
        <p:spPr>
          <a:xfrm>
            <a:off x="7772400" y="1691640"/>
            <a:ext cx="3687775"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828800"/>
            <a:ext cx="3322015" cy="4023360"/>
          </a:xfrm>
          <a:prstGeom prst="rect">
            <a:avLst/>
          </a:prstGeom>
          <a:noFill/>
        </p:spPr>
        <p:txBody>
          <a:bodyPr wrap="square">
            <a:spAutoFit/>
          </a:bodyPr>
          <a:lstStyle/>
          <a:p>
            <a:pPr>
              <a:defRPr b="1" sz="1150">
                <a:solidFill>
                  <a:srgbClr val="D97706"/>
                </a:solidFill>
              </a:defRPr>
            </a:pPr>
            <a:r>
              <a:t>DISTRIBUCIÓN DEL NUEVO VALOR</a:t>
            </a:r>
          </a:p>
          <a:p>
            <a:pPr>
              <a:spcBef>
                <a:spcPts val="600"/>
              </a:spcBef>
              <a:defRPr b="1" sz="1000">
                <a:solidFill>
                  <a:srgbClr val="1E293B"/>
                </a:solidFill>
              </a:defRPr>
            </a:pPr>
            <a:r>
              <a:t>Incremento Total: +$ 29.557,0 M</a:t>
            </a:r>
          </a:p>
          <a:p>
            <a:pPr>
              <a:spcBef>
                <a:spcPts val="250"/>
              </a:spcBef>
              <a:defRPr sz="800">
                <a:solidFill>
                  <a:srgbClr val="0F172A"/>
                </a:solidFill>
              </a:defRPr>
            </a:pPr>
            <a:r>
              <a:t>• R10 Funcionamiento: +$ 23.442,2 M (79,3% del total nuevo)</a:t>
            </a:r>
          </a:p>
          <a:p>
            <a:pPr>
              <a:spcBef>
                <a:spcPts val="250"/>
              </a:spcBef>
              <a:defRPr sz="800">
                <a:solidFill>
                  <a:srgbClr val="0F172A"/>
                </a:solidFill>
              </a:defRPr>
            </a:pPr>
            <a:r>
              <a:t>• R14 Gratuidad: +$ 2.990,7 M (10,1% del total nuevo)</a:t>
            </a:r>
          </a:p>
          <a:p>
            <a:pPr>
              <a:spcBef>
                <a:spcPts val="250"/>
              </a:spcBef>
              <a:defRPr sz="800">
                <a:solidFill>
                  <a:srgbClr val="0F172A"/>
                </a:solidFill>
              </a:defRPr>
            </a:pPr>
            <a:r>
              <a:t>• R20 Recursos Propios: +$ 791,3 M (2,7% del total nuevo)</a:t>
            </a:r>
          </a:p>
          <a:p>
            <a:pPr>
              <a:spcBef>
                <a:spcPts val="250"/>
              </a:spcBef>
              <a:defRPr sz="800">
                <a:solidFill>
                  <a:srgbClr val="0F172A"/>
                </a:solidFill>
              </a:defRPr>
            </a:pPr>
            <a:r>
              <a:t>• R16 Inversión PGN: +$ 570,7 M (1,9% del total nuevo)</a:t>
            </a:r>
          </a:p>
          <a:p>
            <a:pPr>
              <a:spcBef>
                <a:spcPts val="250"/>
              </a:spcBef>
              <a:defRPr sz="800">
                <a:solidFill>
                  <a:srgbClr val="0F172A"/>
                </a:solidFill>
              </a:defRPr>
            </a:pPr>
            <a:r>
              <a:t>• R12 Estampilla UNAL: +$ 541,0 M (1,8% del total nuevo)</a:t>
            </a:r>
          </a:p>
          <a:p>
            <a:pPr>
              <a:spcBef>
                <a:spcPts val="250"/>
              </a:spcBef>
              <a:defRPr sz="800">
                <a:solidFill>
                  <a:srgbClr val="0F172A"/>
                </a:solidFill>
              </a:defRPr>
            </a:pPr>
            <a:r>
              <a:t>• R17 Votación: +$ 363,4 M (1,2% del total nuevo)</a:t>
            </a:r>
          </a:p>
          <a:p>
            <a:pPr>
              <a:spcBef>
                <a:spcPts val="250"/>
              </a:spcBef>
              <a:defRPr sz="800">
                <a:solidFill>
                  <a:srgbClr val="0F172A"/>
                </a:solidFill>
              </a:defRPr>
            </a:pPr>
            <a:r>
              <a:t>• R40 Estampilla UPTC: +$ 344,2 M (1,2% del total nuevo)</a:t>
            </a:r>
          </a:p>
          <a:p>
            <a:pPr>
              <a:spcBef>
                <a:spcPts val="250"/>
              </a:spcBef>
              <a:defRPr sz="800">
                <a:solidFill>
                  <a:srgbClr val="0F172A"/>
                </a:solidFill>
              </a:defRPr>
            </a:pPr>
            <a:r>
              <a:t>• R21 Devolución IVA: +$ 280,3 M (0,9% del total nuevo)</a:t>
            </a:r>
          </a:p>
          <a:p>
            <a:pPr>
              <a:spcBef>
                <a:spcPts val="250"/>
              </a:spcBef>
              <a:defRPr sz="800">
                <a:solidFill>
                  <a:srgbClr val="0F172A"/>
                </a:solidFill>
              </a:defRPr>
            </a:pPr>
            <a:r>
              <a:t>• R18 CESU / R13 Coop.: +$ 233,2 M (0,8% del total nuevo)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12. BALANCE GENERAL | MATRIZ CONSOLIDADA UPTC 2027</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Matriz de proyección presupuestal institucional por grupos normativos y subtotales oficiales</a:t>
            </a:r>
          </a:p>
          <a:p>
            <a:pPr>
              <a:spcBef>
                <a:spcPts val="200"/>
              </a:spcBef>
              <a:defRPr sz="1050">
                <a:solidFill>
                  <a:srgbClr val="64748B"/>
                </a:solidFill>
              </a:defRPr>
            </a:pPr>
            <a:r>
              <a:t>Estructura ejecutiva de 19 conceptos agrupados según su régimen legal de destinación</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13 / 16</a:t>
            </a:r>
          </a:p>
        </p:txBody>
      </p:sp>
      <p:graphicFrame>
        <p:nvGraphicFramePr>
          <p:cNvPr id="6" name="Table 5"/>
          <p:cNvGraphicFramePr>
            <a:graphicFrameLocks noGrp="1"/>
          </p:cNvGraphicFramePr>
          <p:nvPr/>
        </p:nvGraphicFramePr>
        <p:xfrm>
          <a:off x="731520" y="1691640"/>
          <a:ext cx="10728655" cy="4343400"/>
        </p:xfrm>
        <a:graphic>
          <a:graphicData uri="http://schemas.openxmlformats.org/drawingml/2006/table">
            <a:tbl>
              <a:tblPr firstRow="1" bandRow="1">
                <a:tableStyleId>{5C22544A-7EE6-4342-B048-85BDC9FD1C3A}</a:tableStyleId>
              </a:tblPr>
              <a:tblGrid>
                <a:gridCol w="3291840"/>
                <a:gridCol w="1188720"/>
                <a:gridCol w="1280160"/>
                <a:gridCol w="1463040"/>
                <a:gridCol w="1554480"/>
                <a:gridCol w="914400"/>
                <a:gridCol w="1036015"/>
              </a:tblGrid>
              <a:tr h="542925">
                <a:tc>
                  <a:txBody>
                    <a:bodyPr/>
                    <a:lstStyle/>
                    <a:p>
                      <a:pPr>
                        <a:defRPr b="1" sz="850">
                          <a:solidFill>
                            <a:srgbClr val="FFFFFF"/>
                          </a:solidFill>
                        </a:defRPr>
                      </a:pPr>
                      <a:r>
                        <a:t>Grupo Presupuestal / Régimen Legal</a:t>
                      </a:r>
                    </a:p>
                  </a:txBody>
                  <a:tcPr>
                    <a:solidFill>
                      <a:srgbClr val="1E293B"/>
                    </a:solidFill>
                  </a:tcPr>
                </a:tc>
                <a:tc>
                  <a:txBody>
                    <a:bodyPr/>
                    <a:lstStyle/>
                    <a:p>
                      <a:pPr>
                        <a:defRPr b="1" sz="850">
                          <a:solidFill>
                            <a:srgbClr val="FFFFFF"/>
                          </a:solidFill>
                        </a:defRPr>
                      </a:pPr>
                      <a:r>
                        <a:t>Conceptos</a:t>
                      </a:r>
                    </a:p>
                  </a:txBody>
                  <a:tcPr>
                    <a:solidFill>
                      <a:srgbClr val="1E293B"/>
                    </a:solidFill>
                  </a:tcPr>
                </a:tc>
                <a:tc>
                  <a:txBody>
                    <a:bodyPr/>
                    <a:lstStyle/>
                    <a:p>
                      <a:pPr algn="r">
                        <a:defRPr b="1" sz="850">
                          <a:solidFill>
                            <a:srgbClr val="FFFFFF"/>
                          </a:solidFill>
                        </a:defRPr>
                      </a:pPr>
                      <a:r>
                        <a:t>Base 2026 ($M)</a:t>
                      </a:r>
                    </a:p>
                  </a:txBody>
                  <a:tcPr>
                    <a:solidFill>
                      <a:srgbClr val="1E293B"/>
                    </a:solidFill>
                  </a:tcPr>
                </a:tc>
                <a:tc>
                  <a:txBody>
                    <a:bodyPr/>
                    <a:lstStyle/>
                    <a:p>
                      <a:pPr algn="r">
                        <a:defRPr b="1" sz="850">
                          <a:solidFill>
                            <a:srgbClr val="FFFFFF"/>
                          </a:solidFill>
                        </a:defRPr>
                      </a:pPr>
                      <a:r>
                        <a:t>Proy. 2027 ($ COP)</a:t>
                      </a:r>
                    </a:p>
                  </a:txBody>
                  <a:tcPr>
                    <a:solidFill>
                      <a:srgbClr val="1E293B"/>
                    </a:solidFill>
                  </a:tcPr>
                </a:tc>
                <a:tc>
                  <a:txBody>
                    <a:bodyPr/>
                    <a:lstStyle/>
                    <a:p>
                      <a:pPr algn="r">
                        <a:defRPr b="1" sz="850">
                          <a:solidFill>
                            <a:srgbClr val="FFFFFF"/>
                          </a:solidFill>
                        </a:defRPr>
                      </a:pPr>
                      <a:r>
                        <a:t>Proy. 2027 ($ M)</a:t>
                      </a:r>
                    </a:p>
                  </a:txBody>
                  <a:tcPr>
                    <a:solidFill>
                      <a:srgbClr val="1E293B"/>
                    </a:solidFill>
                  </a:tcPr>
                </a:tc>
                <a:tc>
                  <a:txBody>
                    <a:bodyPr/>
                    <a:lstStyle/>
                    <a:p>
                      <a:pPr algn="r">
                        <a:defRPr b="1" sz="850">
                          <a:solidFill>
                            <a:srgbClr val="FFFFFF"/>
                          </a:solidFill>
                        </a:defRPr>
                      </a:pPr>
                      <a:r>
                        <a:t>Var %</a:t>
                      </a:r>
                    </a:p>
                  </a:txBody>
                  <a:tcPr>
                    <a:solidFill>
                      <a:srgbClr val="1E293B"/>
                    </a:solidFill>
                  </a:tcPr>
                </a:tc>
                <a:tc>
                  <a:txBody>
                    <a:bodyPr/>
                    <a:lstStyle/>
                    <a:p>
                      <a:pPr algn="r">
                        <a:defRPr b="1" sz="850">
                          <a:solidFill>
                            <a:srgbClr val="FFFFFF"/>
                          </a:solidFill>
                        </a:defRPr>
                      </a:pPr>
                      <a:r>
                        <a:t>Part %</a:t>
                      </a:r>
                    </a:p>
                  </a:txBody>
                  <a:tcPr>
                    <a:solidFill>
                      <a:srgbClr val="1E293B"/>
                    </a:solidFill>
                  </a:tcPr>
                </a:tc>
              </a:tr>
              <a:tr h="542925">
                <a:tc>
                  <a:txBody>
                    <a:bodyPr/>
                    <a:lstStyle/>
                    <a:p>
                      <a:pPr>
                        <a:defRPr sz="850" b="0">
                          <a:solidFill>
                            <a:srgbClr val="0F172A"/>
                          </a:solidFill>
                        </a:defRPr>
                      </a:pPr>
                      <a:r>
                        <a:t>1. Giros y Transferencias de la Nación</a:t>
                      </a:r>
                    </a:p>
                  </a:txBody>
                  <a:tcPr>
                    <a:solidFill>
                      <a:srgbClr val="FFFFFF"/>
                    </a:solidFill>
                  </a:tcPr>
                </a:tc>
                <a:tc>
                  <a:txBody>
                    <a:bodyPr/>
                    <a:lstStyle/>
                    <a:p>
                      <a:pPr>
                        <a:defRPr sz="850" b="0">
                          <a:solidFill>
                            <a:srgbClr val="0F172A"/>
                          </a:solidFill>
                        </a:defRPr>
                      </a:pPr>
                      <a:r>
                        <a:t>7 Conceptos</a:t>
                      </a:r>
                    </a:p>
                  </a:txBody>
                  <a:tcPr>
                    <a:solidFill>
                      <a:srgbClr val="FFFFFF"/>
                    </a:solidFill>
                  </a:tcPr>
                </a:tc>
                <a:tc>
                  <a:txBody>
                    <a:bodyPr/>
                    <a:lstStyle/>
                    <a:p>
                      <a:pPr algn="r">
                        <a:defRPr sz="850" b="0">
                          <a:solidFill>
                            <a:srgbClr val="0F172A"/>
                          </a:solidFill>
                        </a:defRPr>
                      </a:pPr>
                      <a:r>
                        <a:t>$ 439.985,2 M</a:t>
                      </a:r>
                    </a:p>
                  </a:txBody>
                  <a:tcPr>
                    <a:solidFill>
                      <a:srgbClr val="FFFFFF"/>
                    </a:solidFill>
                  </a:tcPr>
                </a:tc>
                <a:tc>
                  <a:txBody>
                    <a:bodyPr/>
                    <a:lstStyle/>
                    <a:p>
                      <a:pPr algn="r">
                        <a:defRPr sz="850" b="0">
                          <a:solidFill>
                            <a:srgbClr val="0F172A"/>
                          </a:solidFill>
                        </a:defRPr>
                      </a:pPr>
                      <a:r>
                        <a:t>$ 468.126.438.411</a:t>
                      </a:r>
                    </a:p>
                  </a:txBody>
                  <a:tcPr>
                    <a:solidFill>
                      <a:srgbClr val="FFFFFF"/>
                    </a:solidFill>
                  </a:tcPr>
                </a:tc>
                <a:tc>
                  <a:txBody>
                    <a:bodyPr/>
                    <a:lstStyle/>
                    <a:p>
                      <a:pPr algn="r">
                        <a:defRPr sz="850" b="0">
                          <a:solidFill>
                            <a:srgbClr val="0F172A"/>
                          </a:solidFill>
                        </a:defRPr>
                      </a:pPr>
                      <a:r>
                        <a:t>$ 468.126,4 M</a:t>
                      </a:r>
                    </a:p>
                  </a:txBody>
                  <a:tcPr>
                    <a:solidFill>
                      <a:srgbClr val="FFFFFF"/>
                    </a:solidFill>
                  </a:tcPr>
                </a:tc>
                <a:tc>
                  <a:txBody>
                    <a:bodyPr/>
                    <a:lstStyle/>
                    <a:p>
                      <a:pPr algn="r">
                        <a:defRPr sz="850" b="0">
                          <a:solidFill>
                            <a:srgbClr val="0F172A"/>
                          </a:solidFill>
                        </a:defRPr>
                      </a:pPr>
                      <a:r>
                        <a:t>+6,40%</a:t>
                      </a:r>
                    </a:p>
                  </a:txBody>
                  <a:tcPr>
                    <a:solidFill>
                      <a:srgbClr val="FFFFFF"/>
                    </a:solidFill>
                  </a:tcPr>
                </a:tc>
                <a:tc>
                  <a:txBody>
                    <a:bodyPr/>
                    <a:lstStyle/>
                    <a:p>
                      <a:pPr algn="r">
                        <a:defRPr sz="850" b="0">
                          <a:solidFill>
                            <a:srgbClr val="0F172A"/>
                          </a:solidFill>
                        </a:defRPr>
                      </a:pPr>
                      <a:r>
                        <a:t>94,93%</a:t>
                      </a:r>
                    </a:p>
                  </a:txBody>
                  <a:tcPr>
                    <a:solidFill>
                      <a:srgbClr val="FFFFFF"/>
                    </a:solidFill>
                  </a:tcPr>
                </a:tc>
              </a:tr>
              <a:tr h="542925">
                <a:tc>
                  <a:txBody>
                    <a:bodyPr/>
                    <a:lstStyle/>
                    <a:p>
                      <a:pPr>
                        <a:defRPr sz="850" b="0">
                          <a:solidFill>
                            <a:srgbClr val="0F172A"/>
                          </a:solidFill>
                        </a:defRPr>
                      </a:pPr>
                      <a:r>
                        <a:t>2. Recursos Propios UPTC (20-PROPIOS)</a:t>
                      </a:r>
                    </a:p>
                  </a:txBody>
                  <a:tcPr>
                    <a:solidFill>
                      <a:srgbClr val="F8FAFC"/>
                    </a:solidFill>
                  </a:tcPr>
                </a:tc>
                <a:tc>
                  <a:txBody>
                    <a:bodyPr/>
                    <a:lstStyle/>
                    <a:p>
                      <a:pPr>
                        <a:defRPr sz="850" b="0">
                          <a:solidFill>
                            <a:srgbClr val="0F172A"/>
                          </a:solidFill>
                        </a:defRPr>
                      </a:pPr>
                      <a:r>
                        <a:t>10 Conceptos</a:t>
                      </a:r>
                    </a:p>
                  </a:txBody>
                  <a:tcPr>
                    <a:solidFill>
                      <a:srgbClr val="F8FAFC"/>
                    </a:solidFill>
                  </a:tcPr>
                </a:tc>
                <a:tc>
                  <a:txBody>
                    <a:bodyPr/>
                    <a:lstStyle/>
                    <a:p>
                      <a:pPr algn="r">
                        <a:defRPr sz="850" b="0">
                          <a:solidFill>
                            <a:srgbClr val="0F172A"/>
                          </a:solidFill>
                        </a:defRPr>
                      </a:pPr>
                      <a:r>
                        <a:t>$ 13.187,8 M</a:t>
                      </a:r>
                    </a:p>
                  </a:txBody>
                  <a:tcPr>
                    <a:solidFill>
                      <a:srgbClr val="F8FAFC"/>
                    </a:solidFill>
                  </a:tcPr>
                </a:tc>
                <a:tc>
                  <a:txBody>
                    <a:bodyPr/>
                    <a:lstStyle/>
                    <a:p>
                      <a:pPr algn="r">
                        <a:defRPr sz="850" b="0">
                          <a:solidFill>
                            <a:srgbClr val="0F172A"/>
                          </a:solidFill>
                        </a:defRPr>
                      </a:pPr>
                      <a:r>
                        <a:t>$ 13.979.053.203</a:t>
                      </a:r>
                    </a:p>
                  </a:txBody>
                  <a:tcPr>
                    <a:solidFill>
                      <a:srgbClr val="F8FAFC"/>
                    </a:solidFill>
                  </a:tcPr>
                </a:tc>
                <a:tc>
                  <a:txBody>
                    <a:bodyPr/>
                    <a:lstStyle/>
                    <a:p>
                      <a:pPr algn="r">
                        <a:defRPr sz="850" b="0">
                          <a:solidFill>
                            <a:srgbClr val="0F172A"/>
                          </a:solidFill>
                        </a:defRPr>
                      </a:pPr>
                      <a:r>
                        <a:t>$ 13.979,1 M</a:t>
                      </a:r>
                    </a:p>
                  </a:txBody>
                  <a:tcPr>
                    <a:solidFill>
                      <a:srgbClr val="F8FAFC"/>
                    </a:solidFill>
                  </a:tcPr>
                </a:tc>
                <a:tc>
                  <a:txBody>
                    <a:bodyPr/>
                    <a:lstStyle/>
                    <a:p>
                      <a:pPr algn="r">
                        <a:defRPr sz="850" b="0">
                          <a:solidFill>
                            <a:srgbClr val="0F172A"/>
                          </a:solidFill>
                        </a:defRPr>
                      </a:pPr>
                      <a:r>
                        <a:t>+6,00%</a:t>
                      </a:r>
                    </a:p>
                  </a:txBody>
                  <a:tcPr>
                    <a:solidFill>
                      <a:srgbClr val="F8FAFC"/>
                    </a:solidFill>
                  </a:tcPr>
                </a:tc>
                <a:tc>
                  <a:txBody>
                    <a:bodyPr/>
                    <a:lstStyle/>
                    <a:p>
                      <a:pPr algn="r">
                        <a:defRPr sz="850" b="0">
                          <a:solidFill>
                            <a:srgbClr val="0F172A"/>
                          </a:solidFill>
                        </a:defRPr>
                      </a:pPr>
                      <a:r>
                        <a:t>2,83%</a:t>
                      </a:r>
                    </a:p>
                  </a:txBody>
                  <a:tcPr>
                    <a:solidFill>
                      <a:srgbClr val="F8FAFC"/>
                    </a:solidFill>
                  </a:tcPr>
                </a:tc>
              </a:tr>
              <a:tr h="542925">
                <a:tc>
                  <a:txBody>
                    <a:bodyPr/>
                    <a:lstStyle/>
                    <a:p>
                      <a:pPr>
                        <a:defRPr sz="850" b="0">
                          <a:solidFill>
                            <a:srgbClr val="0F172A"/>
                          </a:solidFill>
                        </a:defRPr>
                      </a:pPr>
                      <a:r>
                        <a:t>3. Devolución IVA (21-DEVOLUCION IVA)</a:t>
                      </a:r>
                    </a:p>
                  </a:txBody>
                  <a:tcPr>
                    <a:solidFill>
                      <a:srgbClr val="FFFFFF"/>
                    </a:solidFill>
                  </a:tcPr>
                </a:tc>
                <a:tc>
                  <a:txBody>
                    <a:bodyPr/>
                    <a:lstStyle/>
                    <a:p>
                      <a:pPr>
                        <a:defRPr sz="850" b="0">
                          <a:solidFill>
                            <a:srgbClr val="0F172A"/>
                          </a:solidFill>
                        </a:defRPr>
                      </a:pPr>
                      <a:r>
                        <a:t>1 Concepto</a:t>
                      </a:r>
                    </a:p>
                  </a:txBody>
                  <a:tcPr>
                    <a:solidFill>
                      <a:srgbClr val="FFFFFF"/>
                    </a:solidFill>
                  </a:tcPr>
                </a:tc>
                <a:tc>
                  <a:txBody>
                    <a:bodyPr/>
                    <a:lstStyle/>
                    <a:p>
                      <a:pPr algn="r">
                        <a:defRPr sz="850" b="0">
                          <a:solidFill>
                            <a:srgbClr val="0F172A"/>
                          </a:solidFill>
                        </a:defRPr>
                      </a:pPr>
                      <a:r>
                        <a:t>$ 4.672,2 M</a:t>
                      </a:r>
                    </a:p>
                  </a:txBody>
                  <a:tcPr>
                    <a:solidFill>
                      <a:srgbClr val="FFFFFF"/>
                    </a:solidFill>
                  </a:tcPr>
                </a:tc>
                <a:tc>
                  <a:txBody>
                    <a:bodyPr/>
                    <a:lstStyle/>
                    <a:p>
                      <a:pPr algn="r">
                        <a:defRPr sz="850" b="0">
                          <a:solidFill>
                            <a:srgbClr val="0F172A"/>
                          </a:solidFill>
                        </a:defRPr>
                      </a:pPr>
                      <a:r>
                        <a:t>$ 4.952.550.305</a:t>
                      </a:r>
                    </a:p>
                  </a:txBody>
                  <a:tcPr>
                    <a:solidFill>
                      <a:srgbClr val="FFFFFF"/>
                    </a:solidFill>
                  </a:tcPr>
                </a:tc>
                <a:tc>
                  <a:txBody>
                    <a:bodyPr/>
                    <a:lstStyle/>
                    <a:p>
                      <a:pPr algn="r">
                        <a:defRPr sz="850" b="0">
                          <a:solidFill>
                            <a:srgbClr val="0F172A"/>
                          </a:solidFill>
                        </a:defRPr>
                      </a:pPr>
                      <a:r>
                        <a:t>$ 4.952,6 M</a:t>
                      </a:r>
                    </a:p>
                  </a:txBody>
                  <a:tcPr>
                    <a:solidFill>
                      <a:srgbClr val="FFFFFF"/>
                    </a:solidFill>
                  </a:tcPr>
                </a:tc>
                <a:tc>
                  <a:txBody>
                    <a:bodyPr/>
                    <a:lstStyle/>
                    <a:p>
                      <a:pPr algn="r">
                        <a:defRPr sz="850" b="0">
                          <a:solidFill>
                            <a:srgbClr val="0F172A"/>
                          </a:solidFill>
                        </a:defRPr>
                      </a:pPr>
                      <a:r>
                        <a:t>+6,00%</a:t>
                      </a:r>
                    </a:p>
                  </a:txBody>
                  <a:tcPr>
                    <a:solidFill>
                      <a:srgbClr val="FFFFFF"/>
                    </a:solidFill>
                  </a:tcPr>
                </a:tc>
                <a:tc>
                  <a:txBody>
                    <a:bodyPr/>
                    <a:lstStyle/>
                    <a:p>
                      <a:pPr algn="r">
                        <a:defRPr sz="850" b="0">
                          <a:solidFill>
                            <a:srgbClr val="0F172A"/>
                          </a:solidFill>
                        </a:defRPr>
                      </a:pPr>
                      <a:r>
                        <a:t>1,00%</a:t>
                      </a:r>
                    </a:p>
                  </a:txBody>
                  <a:tcPr>
                    <a:solidFill>
                      <a:srgbClr val="FFFFFF"/>
                    </a:solidFill>
                  </a:tcPr>
                </a:tc>
              </a:tr>
              <a:tr h="542925">
                <a:tc>
                  <a:txBody>
                    <a:bodyPr/>
                    <a:lstStyle/>
                    <a:p>
                      <a:pPr>
                        <a:defRPr sz="850" b="0">
                          <a:solidFill>
                            <a:srgbClr val="0F172A"/>
                          </a:solidFill>
                        </a:defRPr>
                      </a:pPr>
                      <a:r>
                        <a:t>4. Estampilla Pro-UPTC (40-ESTAMPILLA UPTC)</a:t>
                      </a:r>
                    </a:p>
                  </a:txBody>
                  <a:tcPr>
                    <a:solidFill>
                      <a:srgbClr val="F8FAFC"/>
                    </a:solidFill>
                  </a:tcPr>
                </a:tc>
                <a:tc>
                  <a:txBody>
                    <a:bodyPr/>
                    <a:lstStyle/>
                    <a:p>
                      <a:pPr>
                        <a:defRPr sz="850" b="0">
                          <a:solidFill>
                            <a:srgbClr val="0F172A"/>
                          </a:solidFill>
                        </a:defRPr>
                      </a:pPr>
                      <a:r>
                        <a:t>1 Concepto</a:t>
                      </a:r>
                    </a:p>
                  </a:txBody>
                  <a:tcPr>
                    <a:solidFill>
                      <a:srgbClr val="F8FAFC"/>
                    </a:solidFill>
                  </a:tcPr>
                </a:tc>
                <a:tc>
                  <a:txBody>
                    <a:bodyPr/>
                    <a:lstStyle/>
                    <a:p>
                      <a:pPr algn="r">
                        <a:defRPr sz="850" b="0">
                          <a:solidFill>
                            <a:srgbClr val="0F172A"/>
                          </a:solidFill>
                        </a:defRPr>
                      </a:pPr>
                      <a:r>
                        <a:t>$ 5.737,3 M</a:t>
                      </a:r>
                    </a:p>
                  </a:txBody>
                  <a:tcPr>
                    <a:solidFill>
                      <a:srgbClr val="F8FAFC"/>
                    </a:solidFill>
                  </a:tcPr>
                </a:tc>
                <a:tc>
                  <a:txBody>
                    <a:bodyPr/>
                    <a:lstStyle/>
                    <a:p>
                      <a:pPr algn="r">
                        <a:defRPr sz="850" b="0">
                          <a:solidFill>
                            <a:srgbClr val="0F172A"/>
                          </a:solidFill>
                        </a:defRPr>
                      </a:pPr>
                      <a:r>
                        <a:t>$ 6.081.498.987</a:t>
                      </a:r>
                    </a:p>
                  </a:txBody>
                  <a:tcPr>
                    <a:solidFill>
                      <a:srgbClr val="F8FAFC"/>
                    </a:solidFill>
                  </a:tcPr>
                </a:tc>
                <a:tc>
                  <a:txBody>
                    <a:bodyPr/>
                    <a:lstStyle/>
                    <a:p>
                      <a:pPr algn="r">
                        <a:defRPr sz="850" b="0">
                          <a:solidFill>
                            <a:srgbClr val="0F172A"/>
                          </a:solidFill>
                        </a:defRPr>
                      </a:pPr>
                      <a:r>
                        <a:t>$ 6.081,5 M</a:t>
                      </a:r>
                    </a:p>
                  </a:txBody>
                  <a:tcPr>
                    <a:solidFill>
                      <a:srgbClr val="F8FAFC"/>
                    </a:solidFill>
                  </a:tcPr>
                </a:tc>
                <a:tc>
                  <a:txBody>
                    <a:bodyPr/>
                    <a:lstStyle/>
                    <a:p>
                      <a:pPr algn="r">
                        <a:defRPr sz="850" b="0">
                          <a:solidFill>
                            <a:srgbClr val="0F172A"/>
                          </a:solidFill>
                        </a:defRPr>
                      </a:pPr>
                      <a:r>
                        <a:t>+6,00%</a:t>
                      </a:r>
                    </a:p>
                  </a:txBody>
                  <a:tcPr>
                    <a:solidFill>
                      <a:srgbClr val="F8FAFC"/>
                    </a:solidFill>
                  </a:tcPr>
                </a:tc>
                <a:tc>
                  <a:txBody>
                    <a:bodyPr/>
                    <a:lstStyle/>
                    <a:p>
                      <a:pPr algn="r">
                        <a:defRPr sz="850" b="0">
                          <a:solidFill>
                            <a:srgbClr val="0F172A"/>
                          </a:solidFill>
                        </a:defRPr>
                      </a:pPr>
                      <a:r>
                        <a:t>1,23%</a:t>
                      </a:r>
                    </a:p>
                  </a:txBody>
                  <a:tcPr>
                    <a:solidFill>
                      <a:srgbClr val="F8FAFC"/>
                    </a:solidFill>
                  </a:tcPr>
                </a:tc>
              </a:tr>
              <a:tr h="542925">
                <a:tc>
                  <a:txBody>
                    <a:bodyPr/>
                    <a:lstStyle/>
                    <a:p>
                      <a:pPr>
                        <a:defRPr sz="850" b="1">
                          <a:solidFill>
                            <a:srgbClr val="1E293B"/>
                          </a:solidFill>
                        </a:defRPr>
                      </a:pPr>
                      <a:r>
                        <a:t>SUBTOTAL AUTOGESTIÓN INSTITUCIONAL</a:t>
                      </a:r>
                    </a:p>
                  </a:txBody>
                  <a:tcPr>
                    <a:solidFill>
                      <a:srgbClr val="FEF3C7"/>
                    </a:solidFill>
                  </a:tcPr>
                </a:tc>
                <a:tc>
                  <a:txBody>
                    <a:bodyPr/>
                    <a:lstStyle/>
                    <a:p>
                      <a:pPr>
                        <a:defRPr sz="850" b="1">
                          <a:solidFill>
                            <a:srgbClr val="1E293B"/>
                          </a:solidFill>
                        </a:defRPr>
                      </a:pPr>
                      <a:r>
                        <a:t>12 Conceptos</a:t>
                      </a:r>
                    </a:p>
                  </a:txBody>
                  <a:tcPr>
                    <a:solidFill>
                      <a:srgbClr val="FEF3C7"/>
                    </a:solidFill>
                  </a:tcPr>
                </a:tc>
                <a:tc>
                  <a:txBody>
                    <a:bodyPr/>
                    <a:lstStyle/>
                    <a:p>
                      <a:pPr algn="r">
                        <a:defRPr sz="850" b="1">
                          <a:solidFill>
                            <a:srgbClr val="1E293B"/>
                          </a:solidFill>
                        </a:defRPr>
                      </a:pPr>
                      <a:r>
                        <a:t>$ 23.597,3 M</a:t>
                      </a:r>
                    </a:p>
                  </a:txBody>
                  <a:tcPr>
                    <a:solidFill>
                      <a:srgbClr val="FEF3C7"/>
                    </a:solidFill>
                  </a:tcPr>
                </a:tc>
                <a:tc>
                  <a:txBody>
                    <a:bodyPr/>
                    <a:lstStyle/>
                    <a:p>
                      <a:pPr algn="r">
                        <a:defRPr sz="850" b="1">
                          <a:solidFill>
                            <a:srgbClr val="1E293B"/>
                          </a:solidFill>
                        </a:defRPr>
                      </a:pPr>
                      <a:r>
                        <a:t>$ 25.013.102.495</a:t>
                      </a:r>
                    </a:p>
                  </a:txBody>
                  <a:tcPr>
                    <a:solidFill>
                      <a:srgbClr val="FEF3C7"/>
                    </a:solidFill>
                  </a:tcPr>
                </a:tc>
                <a:tc>
                  <a:txBody>
                    <a:bodyPr/>
                    <a:lstStyle/>
                    <a:p>
                      <a:pPr algn="r">
                        <a:defRPr sz="850" b="1">
                          <a:solidFill>
                            <a:srgbClr val="1E293B"/>
                          </a:solidFill>
                        </a:defRPr>
                      </a:pPr>
                      <a:r>
                        <a:t>$ 25.013,1 M</a:t>
                      </a:r>
                    </a:p>
                  </a:txBody>
                  <a:tcPr>
                    <a:solidFill>
                      <a:srgbClr val="FEF3C7"/>
                    </a:solidFill>
                  </a:tcPr>
                </a:tc>
                <a:tc>
                  <a:txBody>
                    <a:bodyPr/>
                    <a:lstStyle/>
                    <a:p>
                      <a:pPr algn="r">
                        <a:defRPr sz="850" b="1">
                          <a:solidFill>
                            <a:srgbClr val="1E293B"/>
                          </a:solidFill>
                        </a:defRPr>
                      </a:pPr>
                      <a:r>
                        <a:t>+6,00%</a:t>
                      </a:r>
                    </a:p>
                  </a:txBody>
                  <a:tcPr>
                    <a:solidFill>
                      <a:srgbClr val="FEF3C7"/>
                    </a:solidFill>
                  </a:tcPr>
                </a:tc>
                <a:tc>
                  <a:txBody>
                    <a:bodyPr/>
                    <a:lstStyle/>
                    <a:p>
                      <a:pPr algn="r">
                        <a:defRPr sz="850" b="1">
                          <a:solidFill>
                            <a:srgbClr val="1E293B"/>
                          </a:solidFill>
                        </a:defRPr>
                      </a:pPr>
                      <a:r>
                        <a:t>5,07%</a:t>
                      </a:r>
                    </a:p>
                  </a:txBody>
                  <a:tcPr>
                    <a:solidFill>
                      <a:srgbClr val="FEF3C7"/>
                    </a:solidFill>
                  </a:tcPr>
                </a:tc>
              </a:tr>
              <a:tr h="542925">
                <a:tc>
                  <a:txBody>
                    <a:bodyPr/>
                    <a:lstStyle/>
                    <a:p>
                      <a:pPr>
                        <a:defRPr sz="850" b="1">
                          <a:solidFill>
                            <a:srgbClr val="1E293B"/>
                          </a:solidFill>
                        </a:defRPr>
                      </a:pPr>
                      <a:r>
                        <a:t>SUBTOTAL GIROS DE LA NACIÓN</a:t>
                      </a:r>
                    </a:p>
                  </a:txBody>
                  <a:tcPr>
                    <a:solidFill>
                      <a:srgbClr val="EFF6FF"/>
                    </a:solidFill>
                  </a:tcPr>
                </a:tc>
                <a:tc>
                  <a:txBody>
                    <a:bodyPr/>
                    <a:lstStyle/>
                    <a:p>
                      <a:pPr>
                        <a:defRPr sz="850" b="1">
                          <a:solidFill>
                            <a:srgbClr val="1E293B"/>
                          </a:solidFill>
                        </a:defRPr>
                      </a:pPr>
                      <a:r>
                        <a:t>7 Conceptos</a:t>
                      </a:r>
                    </a:p>
                  </a:txBody>
                  <a:tcPr>
                    <a:solidFill>
                      <a:srgbClr val="EFF6FF"/>
                    </a:solidFill>
                  </a:tcPr>
                </a:tc>
                <a:tc>
                  <a:txBody>
                    <a:bodyPr/>
                    <a:lstStyle/>
                    <a:p>
                      <a:pPr algn="r">
                        <a:defRPr sz="850" b="1">
                          <a:solidFill>
                            <a:srgbClr val="1E293B"/>
                          </a:solidFill>
                        </a:defRPr>
                      </a:pPr>
                      <a:r>
                        <a:t>$ 439.985,2 M</a:t>
                      </a:r>
                    </a:p>
                  </a:txBody>
                  <a:tcPr>
                    <a:solidFill>
                      <a:srgbClr val="EFF6FF"/>
                    </a:solidFill>
                  </a:tcPr>
                </a:tc>
                <a:tc>
                  <a:txBody>
                    <a:bodyPr/>
                    <a:lstStyle/>
                    <a:p>
                      <a:pPr algn="r">
                        <a:defRPr sz="850" b="1">
                          <a:solidFill>
                            <a:srgbClr val="1E293B"/>
                          </a:solidFill>
                        </a:defRPr>
                      </a:pPr>
                      <a:r>
                        <a:t>$ 468.126.438.411</a:t>
                      </a:r>
                    </a:p>
                  </a:txBody>
                  <a:tcPr>
                    <a:solidFill>
                      <a:srgbClr val="EFF6FF"/>
                    </a:solidFill>
                  </a:tcPr>
                </a:tc>
                <a:tc>
                  <a:txBody>
                    <a:bodyPr/>
                    <a:lstStyle/>
                    <a:p>
                      <a:pPr algn="r">
                        <a:defRPr sz="850" b="1">
                          <a:solidFill>
                            <a:srgbClr val="1E293B"/>
                          </a:solidFill>
                        </a:defRPr>
                      </a:pPr>
                      <a:r>
                        <a:t>$ 468.126,4 M</a:t>
                      </a:r>
                    </a:p>
                  </a:txBody>
                  <a:tcPr>
                    <a:solidFill>
                      <a:srgbClr val="EFF6FF"/>
                    </a:solidFill>
                  </a:tcPr>
                </a:tc>
                <a:tc>
                  <a:txBody>
                    <a:bodyPr/>
                    <a:lstStyle/>
                    <a:p>
                      <a:pPr algn="r">
                        <a:defRPr sz="850" b="1">
                          <a:solidFill>
                            <a:srgbClr val="1E293B"/>
                          </a:solidFill>
                        </a:defRPr>
                      </a:pPr>
                      <a:r>
                        <a:t>+6,40%</a:t>
                      </a:r>
                    </a:p>
                  </a:txBody>
                  <a:tcPr>
                    <a:solidFill>
                      <a:srgbClr val="EFF6FF"/>
                    </a:solidFill>
                  </a:tcPr>
                </a:tc>
                <a:tc>
                  <a:txBody>
                    <a:bodyPr/>
                    <a:lstStyle/>
                    <a:p>
                      <a:pPr algn="r">
                        <a:defRPr sz="850" b="1">
                          <a:solidFill>
                            <a:srgbClr val="1E293B"/>
                          </a:solidFill>
                        </a:defRPr>
                      </a:pPr>
                      <a:r>
                        <a:t>94,93%</a:t>
                      </a:r>
                    </a:p>
                  </a:txBody>
                  <a:tcPr>
                    <a:solidFill>
                      <a:srgbClr val="EFF6FF"/>
                    </a:solidFill>
                  </a:tcPr>
                </a:tc>
              </a:tr>
              <a:tr h="542925">
                <a:tc>
                  <a:txBody>
                    <a:bodyPr/>
                    <a:lstStyle/>
                    <a:p>
                      <a:pPr>
                        <a:defRPr sz="950" b="1">
                          <a:solidFill>
                            <a:srgbClr val="FFFFFF"/>
                          </a:solidFill>
                        </a:defRPr>
                      </a:pPr>
                      <a:r>
                        <a:t>TOTAL CONSOLIDADO UPTC 2027</a:t>
                      </a:r>
                    </a:p>
                  </a:txBody>
                  <a:tcPr>
                    <a:solidFill>
                      <a:srgbClr val="0F172A"/>
                    </a:solidFill>
                  </a:tcPr>
                </a:tc>
                <a:tc>
                  <a:txBody>
                    <a:bodyPr/>
                    <a:lstStyle/>
                    <a:p>
                      <a:pPr>
                        <a:defRPr sz="950" b="1">
                          <a:solidFill>
                            <a:srgbClr val="FFFFFF"/>
                          </a:solidFill>
                        </a:defRPr>
                      </a:pPr>
                      <a:r>
                        <a:t>19 Conceptos</a:t>
                      </a:r>
                    </a:p>
                  </a:txBody>
                  <a:tcPr>
                    <a:solidFill>
                      <a:srgbClr val="0F172A"/>
                    </a:solidFill>
                  </a:tcPr>
                </a:tc>
                <a:tc>
                  <a:txBody>
                    <a:bodyPr/>
                    <a:lstStyle/>
                    <a:p>
                      <a:pPr algn="r">
                        <a:defRPr sz="950" b="1">
                          <a:solidFill>
                            <a:srgbClr val="FFFFFF"/>
                          </a:solidFill>
                        </a:defRPr>
                      </a:pPr>
                      <a:r>
                        <a:t>$ 463.582,5 M</a:t>
                      </a:r>
                    </a:p>
                  </a:txBody>
                  <a:tcPr>
                    <a:solidFill>
                      <a:srgbClr val="0F172A"/>
                    </a:solidFill>
                  </a:tcPr>
                </a:tc>
                <a:tc>
                  <a:txBody>
                    <a:bodyPr/>
                    <a:lstStyle/>
                    <a:p>
                      <a:pPr algn="r">
                        <a:defRPr sz="950" b="1">
                          <a:solidFill>
                            <a:srgbClr val="FBBF24"/>
                          </a:solidFill>
                        </a:defRPr>
                      </a:pPr>
                      <a:r>
                        <a:t>$ 493.139.540.916</a:t>
                      </a:r>
                    </a:p>
                  </a:txBody>
                  <a:tcPr>
                    <a:solidFill>
                      <a:srgbClr val="0F172A"/>
                    </a:solidFill>
                  </a:tcPr>
                </a:tc>
                <a:tc>
                  <a:txBody>
                    <a:bodyPr/>
                    <a:lstStyle/>
                    <a:p>
                      <a:pPr algn="r">
                        <a:defRPr sz="950" b="1">
                          <a:solidFill>
                            <a:srgbClr val="FBBF24"/>
                          </a:solidFill>
                        </a:defRPr>
                      </a:pPr>
                      <a:r>
                        <a:t>$ 493.139,5 M</a:t>
                      </a:r>
                    </a:p>
                  </a:txBody>
                  <a:tcPr>
                    <a:solidFill>
                      <a:srgbClr val="0F172A"/>
                    </a:solidFill>
                  </a:tcPr>
                </a:tc>
                <a:tc>
                  <a:txBody>
                    <a:bodyPr/>
                    <a:lstStyle/>
                    <a:p>
                      <a:pPr algn="r">
                        <a:defRPr sz="950" b="1">
                          <a:solidFill>
                            <a:srgbClr val="FFFFFF"/>
                          </a:solidFill>
                        </a:defRPr>
                      </a:pPr>
                      <a:r>
                        <a:t>+6,38%</a:t>
                      </a:r>
                    </a:p>
                  </a:txBody>
                  <a:tcPr>
                    <a:solidFill>
                      <a:srgbClr val="0F172A"/>
                    </a:solidFill>
                  </a:tcPr>
                </a:tc>
                <a:tc>
                  <a:txBody>
                    <a:bodyPr/>
                    <a:lstStyle/>
                    <a:p>
                      <a:pPr algn="r">
                        <a:defRPr sz="950" b="1">
                          <a:solidFill>
                            <a:srgbClr val="FFFFFF"/>
                          </a:solidFill>
                        </a:defRPr>
                      </a:pPr>
                      <a:r>
                        <a:t>100,00%</a:t>
                      </a:r>
                    </a:p>
                  </a:txBody>
                  <a:tcPr>
                    <a:solidFill>
                      <a:srgbClr val="0F172A"/>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13. GESTIÓN DE RIESGOS | SEMÁFORO DE ALERTAS FISCALES</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La materialización de la proyección exige monitorear tres fuentes de incertidumbre financiera</a:t>
            </a:r>
          </a:p>
          <a:p>
            <a:pPr>
              <a:spcBef>
                <a:spcPts val="200"/>
              </a:spcBef>
              <a:defRPr sz="1050">
                <a:solidFill>
                  <a:srgbClr val="64748B"/>
                </a:solidFill>
              </a:defRPr>
            </a:pPr>
            <a:r>
              <a:t>Matriz de riesgos presupuestales, impacto en liquidez y planes de mitigación institucional</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14 / 16</a:t>
            </a:r>
          </a:p>
        </p:txBody>
      </p:sp>
      <p:sp>
        <p:nvSpPr>
          <p:cNvPr id="6" name="Rounded Rectangle 5"/>
          <p:cNvSpPr/>
          <p:nvPr/>
        </p:nvSpPr>
        <p:spPr>
          <a:xfrm>
            <a:off x="731520" y="1691640"/>
            <a:ext cx="3429000"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342900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874519"/>
            <a:ext cx="1645920" cy="274320"/>
          </a:xfrm>
          <a:prstGeom prst="roundRect">
            <a:avLst/>
          </a:prstGeom>
          <a:solidFill>
            <a:srgbClr val="FEF2F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900">
                <a:solidFill>
                  <a:srgbClr val="EF4444"/>
                </a:solidFill>
              </a:defRPr>
            </a:pPr>
            <a:r>
              <a:t>🔴 ALTO RIESGO</a:t>
            </a:r>
          </a:p>
        </p:txBody>
      </p:sp>
      <p:sp>
        <p:nvSpPr>
          <p:cNvPr id="9" name="TextBox 8"/>
          <p:cNvSpPr txBox="1"/>
          <p:nvPr/>
        </p:nvSpPr>
        <p:spPr>
          <a:xfrm>
            <a:off x="868680" y="2240280"/>
            <a:ext cx="3154680" cy="3703320"/>
          </a:xfrm>
          <a:prstGeom prst="rect">
            <a:avLst/>
          </a:prstGeom>
          <a:noFill/>
        </p:spPr>
        <p:txBody>
          <a:bodyPr wrap="square">
            <a:spAutoFit/>
          </a:bodyPr>
          <a:lstStyle/>
          <a:p>
            <a:pPr>
              <a:defRPr b="1" sz="1000">
                <a:solidFill>
                  <a:srgbClr val="1E293B"/>
                </a:solidFill>
              </a:defRPr>
            </a:pPr>
            <a:r>
              <a:t>DESCALCE EN GIROS DE GRATUIDAD (R14) Y DEPENDENCIA CENTRAL</a:t>
            </a:r>
          </a:p>
          <a:p>
            <a:pPr>
              <a:spcBef>
                <a:spcPts val="800"/>
              </a:spcBef>
              <a:defRPr sz="850">
                <a:solidFill>
                  <a:srgbClr val="64748B"/>
                </a:solidFill>
              </a:defRPr>
            </a:pPr>
            <a:r>
              <a:t>• Factor Crítico: Retrasos en la expedición de resoluciones semestrales del MEN y desembolsos trimestrales del Fondo Solidario para la Educación.</a:t>
            </a:r>
            <a:br/>
            <a:r>
              <a:t>• Impacto Potencial: Iliquidez transitoria para cubrir obligaciones académicas y operativas corrientes.</a:t>
            </a:r>
            <a:br/>
            <a:r>
              <a:t>• Plan de Mitigación: Sincronización mensual con el Módulo de Flujo de Caja y Tesorería VAFI, con reservas de contingencia en cuentas bancarias de Recursos Propios.</a:t>
            </a:r>
          </a:p>
        </p:txBody>
      </p:sp>
      <p:sp>
        <p:nvSpPr>
          <p:cNvPr id="10" name="Rounded Rectangle 9"/>
          <p:cNvSpPr/>
          <p:nvPr/>
        </p:nvSpPr>
        <p:spPr>
          <a:xfrm>
            <a:off x="4379976" y="1691640"/>
            <a:ext cx="3429000"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9976" y="1691640"/>
            <a:ext cx="3429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17136" y="1874519"/>
            <a:ext cx="1645920" cy="27432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900">
                <a:solidFill>
                  <a:srgbClr val="D97706"/>
                </a:solidFill>
              </a:defRPr>
            </a:pPr>
            <a:r>
              <a:t>🟠 RIESGO MEDIO</a:t>
            </a:r>
          </a:p>
        </p:txBody>
      </p:sp>
      <p:sp>
        <p:nvSpPr>
          <p:cNvPr id="13" name="TextBox 12"/>
          <p:cNvSpPr txBox="1"/>
          <p:nvPr/>
        </p:nvSpPr>
        <p:spPr>
          <a:xfrm>
            <a:off x="4517136" y="2240280"/>
            <a:ext cx="3154680" cy="3703320"/>
          </a:xfrm>
          <a:prstGeom prst="rect">
            <a:avLst/>
          </a:prstGeom>
          <a:noFill/>
        </p:spPr>
        <p:txBody>
          <a:bodyPr wrap="square">
            <a:spAutoFit/>
          </a:bodyPr>
          <a:lstStyle/>
          <a:p>
            <a:pPr>
              <a:defRPr b="1" sz="1000">
                <a:solidFill>
                  <a:srgbClr val="1E293B"/>
                </a:solidFill>
              </a:defRPr>
            </a:pPr>
            <a:r>
              <a:t>TRÁMITE LEGISLATIVO PGN 2027 Y TIEMPOS DE DEVOLUCIÓN IVA DIAN (R21)</a:t>
            </a:r>
          </a:p>
          <a:p>
            <a:pPr>
              <a:spcBef>
                <a:spcPts val="800"/>
              </a:spcBef>
              <a:defRPr sz="850">
                <a:solidFill>
                  <a:srgbClr val="64748B"/>
                </a:solidFill>
              </a:defRPr>
            </a:pPr>
            <a:r>
              <a:t>• Factor Crítico: Modificaciones de última hora en el Congreso de la República al PGN 2027 y represamiento de solicitudes de devolución de IVA ante la DIAN (plazos de hasta 180 días).</a:t>
            </a:r>
            <a:br/>
            <a:r>
              <a:t>• Impacto Potencial: Variación en la cuota mensual de aportes nacionales o congelamiento temporal de $4.952 M en IVA.</a:t>
            </a:r>
            <a:br/>
            <a:r>
              <a:t>• Plan de Mitigación: Seguimiento legislativo con el SUE y radicación trimestral anticipada de devoluciones.</a:t>
            </a:r>
          </a:p>
        </p:txBody>
      </p:sp>
      <p:sp>
        <p:nvSpPr>
          <p:cNvPr id="14" name="Rounded Rectangle 13"/>
          <p:cNvSpPr/>
          <p:nvPr/>
        </p:nvSpPr>
        <p:spPr>
          <a:xfrm>
            <a:off x="8028432" y="1691640"/>
            <a:ext cx="3429000" cy="4343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28432" y="1691640"/>
            <a:ext cx="34290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65592" y="1874519"/>
            <a:ext cx="1645920" cy="274320"/>
          </a:xfrm>
          <a:prstGeom prst="roundRect">
            <a:avLst/>
          </a:prstGeom>
          <a:solidFill>
            <a:srgbClr val="ECFDF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900">
                <a:solidFill>
                  <a:srgbClr val="10B981"/>
                </a:solidFill>
              </a:defRPr>
            </a:pPr>
            <a:r>
              <a:t>🟢 BAJO RIESGO</a:t>
            </a:r>
          </a:p>
        </p:txBody>
      </p:sp>
      <p:sp>
        <p:nvSpPr>
          <p:cNvPr id="17" name="TextBox 16"/>
          <p:cNvSpPr txBox="1"/>
          <p:nvPr/>
        </p:nvSpPr>
        <p:spPr>
          <a:xfrm>
            <a:off x="8165592" y="2240280"/>
            <a:ext cx="3154680" cy="3703320"/>
          </a:xfrm>
          <a:prstGeom prst="rect">
            <a:avLst/>
          </a:prstGeom>
          <a:noFill/>
        </p:spPr>
        <p:txBody>
          <a:bodyPr wrap="square">
            <a:spAutoFit/>
          </a:bodyPr>
          <a:lstStyle/>
          <a:p>
            <a:pPr>
              <a:defRPr b="1" sz="1000">
                <a:solidFill>
                  <a:srgbClr val="1E293B"/>
                </a:solidFill>
              </a:defRPr>
            </a:pPr>
            <a:r>
              <a:t>DESVIACIONES EN RECURSOS PROPIOS (R20) Y ESTAMPILLA UPTC (R40)</a:t>
            </a:r>
          </a:p>
          <a:p>
            <a:pPr>
              <a:spcBef>
                <a:spcPts val="800"/>
              </a:spcBef>
              <a:defRPr sz="850">
                <a:solidFill>
                  <a:srgbClr val="64748B"/>
                </a:solidFill>
              </a:defRPr>
            </a:pPr>
            <a:r>
              <a:t>• Factor Crítico: Fluctuaciones menores en inscripciones de programas y variaciones en el recaudo tributario departamental.</a:t>
            </a:r>
            <a:br/>
            <a:r>
              <a:t>• Impacto Potencial: Ajustes marginales (&lt;1%) en recursos de autogestión de facultades y proyectos de inversión.</a:t>
            </a:r>
            <a:br/>
            <a:r>
              <a:t>• Plan de Mitigación: Control continuo de cartera académica, fortalecimiento de la oferta de posgrados y fiscalización oportuna de convenios de estampilla.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20040"/>
            <a:ext cx="3108960" cy="256032"/>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D97706"/>
                </a:solidFill>
              </a:defRPr>
            </a:pPr>
            <a:r>
              <a:t>14. DIAGNÓSTICO ESTRATÉGICO | PRINCIPALES HALLAZGOS</a:t>
            </a:r>
          </a:p>
        </p:txBody>
      </p:sp>
      <p:sp>
        <p:nvSpPr>
          <p:cNvPr id="3" name="TextBox 2"/>
          <p:cNvSpPr txBox="1"/>
          <p:nvPr/>
        </p:nvSpPr>
        <p:spPr>
          <a:xfrm>
            <a:off x="731520" y="621792"/>
            <a:ext cx="10728655" cy="868680"/>
          </a:xfrm>
          <a:prstGeom prst="rect">
            <a:avLst/>
          </a:prstGeom>
          <a:noFill/>
        </p:spPr>
        <p:txBody>
          <a:bodyPr wrap="square" lIns="0" tIns="0" rIns="0" bIns="0">
            <a:spAutoFit/>
          </a:bodyPr>
          <a:lstStyle/>
          <a:p>
            <a:pPr>
              <a:defRPr b="1" sz="1650">
                <a:solidFill>
                  <a:srgbClr val="0F172A"/>
                </a:solidFill>
              </a:defRPr>
            </a:pPr>
            <a:r>
              <a:t>Cinco hallazgos resumen la realidad presupuestal y los desafíos operativos de la UPTC</a:t>
            </a:r>
          </a:p>
          <a:p>
            <a:pPr>
              <a:spcBef>
                <a:spcPts val="200"/>
              </a:spcBef>
              <a:defRPr sz="1050">
                <a:solidFill>
                  <a:srgbClr val="64748B"/>
                </a:solidFill>
              </a:defRPr>
            </a:pPr>
            <a:r>
              <a:t>Conclusiones analíticas cuantitativas derivadas de la modelación del presupuesto 2027</a:t>
            </a:r>
          </a:p>
        </p:txBody>
      </p:sp>
      <p:sp>
        <p:nvSpPr>
          <p:cNvPr id="4" name="Rectangle 3"/>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8655" cy="320040"/>
          </a:xfrm>
          <a:prstGeom prst="rect">
            <a:avLst/>
          </a:prstGeom>
          <a:noFill/>
        </p:spPr>
        <p:txBody>
          <a:bodyPr wrap="none" lIns="0" tIns="0" rIns="0" bIns="0">
            <a:spAutoFit/>
          </a:bodyPr>
          <a:lstStyle/>
          <a:p>
            <a:pPr>
              <a:defRPr sz="850">
                <a:solidFill>
                  <a:srgbClr val="64748B"/>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15 / 16</a:t>
            </a:r>
          </a:p>
        </p:txBody>
      </p:sp>
      <p:sp>
        <p:nvSpPr>
          <p:cNvPr id="6" name="Rounded Rectangle 5"/>
          <p:cNvSpPr/>
          <p:nvPr/>
        </p:nvSpPr>
        <p:spPr>
          <a:xfrm>
            <a:off x="731520" y="1691640"/>
            <a:ext cx="10728655"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01368"/>
            <a:ext cx="548640" cy="54864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1300">
                <a:solidFill>
                  <a:srgbClr val="D97706"/>
                </a:solidFill>
              </a:defRPr>
            </a:pPr>
            <a:r>
              <a:t>01</a:t>
            </a:r>
          </a:p>
        </p:txBody>
      </p:sp>
      <p:sp>
        <p:nvSpPr>
          <p:cNvPr id="8" name="TextBox 7"/>
          <p:cNvSpPr txBox="1"/>
          <p:nvPr/>
        </p:nvSpPr>
        <p:spPr>
          <a:xfrm>
            <a:off x="1554480" y="1764792"/>
            <a:ext cx="9692640" cy="640080"/>
          </a:xfrm>
          <a:prstGeom prst="rect">
            <a:avLst/>
          </a:prstGeom>
          <a:noFill/>
        </p:spPr>
        <p:txBody>
          <a:bodyPr wrap="square">
            <a:spAutoFit/>
          </a:bodyPr>
          <a:lstStyle/>
          <a:p>
            <a:pPr>
              <a:defRPr b="1" sz="950">
                <a:solidFill>
                  <a:srgbClr val="1E293B"/>
                </a:solidFill>
              </a:defRPr>
            </a:pPr>
            <a:r>
              <a:t>MÁXIMA CONCENTRACIÓN EN TRANSFERENCIAS NACIONALES — </a:t>
            </a:r>
            <a:r>
              <a:rPr b="0" sz="900">
                <a:solidFill>
                  <a:srgbClr val="64748B"/>
                </a:solidFill>
              </a:rPr>
              <a:t>R10 (Funcionamiento) y R14 (Gratuidad) explican el 89,28% del presupuesto total ($440.286,3 M COP). La UPTC es financieramente dependiente de las políticas del Gobierno Nacional.</a:t>
            </a:r>
          </a:p>
        </p:txBody>
      </p:sp>
      <p:sp>
        <p:nvSpPr>
          <p:cNvPr id="9" name="Rounded Rectangle 8"/>
          <p:cNvSpPr/>
          <p:nvPr/>
        </p:nvSpPr>
        <p:spPr>
          <a:xfrm>
            <a:off x="731520" y="2578608"/>
            <a:ext cx="10728655"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2688336"/>
            <a:ext cx="548640" cy="54864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1300">
                <a:solidFill>
                  <a:srgbClr val="D97706"/>
                </a:solidFill>
              </a:defRPr>
            </a:pPr>
            <a:r>
              <a:t>02</a:t>
            </a:r>
          </a:p>
        </p:txBody>
      </p:sp>
      <p:sp>
        <p:nvSpPr>
          <p:cNvPr id="11" name="TextBox 10"/>
          <p:cNvSpPr txBox="1"/>
          <p:nvPr/>
        </p:nvSpPr>
        <p:spPr>
          <a:xfrm>
            <a:off x="1554480" y="2651760"/>
            <a:ext cx="9692640" cy="640080"/>
          </a:xfrm>
          <a:prstGeom prst="rect">
            <a:avLst/>
          </a:prstGeom>
          <a:noFill/>
        </p:spPr>
        <p:txBody>
          <a:bodyPr wrap="square">
            <a:spAutoFit/>
          </a:bodyPr>
          <a:lstStyle/>
          <a:p>
            <a:pPr>
              <a:defRPr b="1" sz="950">
                <a:solidFill>
                  <a:srgbClr val="1E293B"/>
                </a:solidFill>
              </a:defRPr>
            </a:pPr>
            <a:r>
              <a:t>CRECIMIENTO INERCIAL FISCALMENTE CONTROLADO (+6,38%) — </a:t>
            </a:r>
            <a:r>
              <a:rPr b="0" sz="900">
                <a:solidFill>
                  <a:srgbClr val="64748B"/>
                </a:solidFill>
              </a:rPr>
              <a:t>El aumento de +$29.557,0 M COP es armónico con la inflación y los acuerdos salariales estatales. Asegura el equilibrio operativo sin generar falsas expectativas de gasto suntuario.</a:t>
            </a:r>
          </a:p>
        </p:txBody>
      </p:sp>
      <p:sp>
        <p:nvSpPr>
          <p:cNvPr id="12" name="Rounded Rectangle 11"/>
          <p:cNvSpPr/>
          <p:nvPr/>
        </p:nvSpPr>
        <p:spPr>
          <a:xfrm>
            <a:off x="731520" y="3465576"/>
            <a:ext cx="10728655"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3575304"/>
            <a:ext cx="548640" cy="54864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1300">
                <a:solidFill>
                  <a:srgbClr val="D97706"/>
                </a:solidFill>
              </a:defRPr>
            </a:pPr>
            <a:r>
              <a:t>03</a:t>
            </a:r>
          </a:p>
        </p:txBody>
      </p:sp>
      <p:sp>
        <p:nvSpPr>
          <p:cNvPr id="14" name="TextBox 13"/>
          <p:cNvSpPr txBox="1"/>
          <p:nvPr/>
        </p:nvSpPr>
        <p:spPr>
          <a:xfrm>
            <a:off x="1554480" y="3538728"/>
            <a:ext cx="9692640" cy="640080"/>
          </a:xfrm>
          <a:prstGeom prst="rect">
            <a:avLst/>
          </a:prstGeom>
          <a:noFill/>
        </p:spPr>
        <p:txBody>
          <a:bodyPr wrap="square">
            <a:spAutoFit/>
          </a:bodyPr>
          <a:lstStyle/>
          <a:p>
            <a:pPr>
              <a:defRPr b="1" sz="950">
                <a:solidFill>
                  <a:srgbClr val="1E293B"/>
                </a:solidFill>
              </a:defRPr>
            </a:pPr>
            <a:r>
              <a:t>CUMPLIMIENTO ESTRICTO DEL TECHO LEGAL PGN 2027 — </a:t>
            </a:r>
            <a:r>
              <a:rPr b="0" sz="900">
                <a:solidFill>
                  <a:srgbClr val="64748B"/>
                </a:solidFill>
              </a:rPr>
              <a:t>El bloque de funcionamiento nacional (R10, R17 y R18) se ajusta al milímetro con el Proyecto de Ley radicado por el Ministerio de Hacienda en $395.704.592.082 COP.</a:t>
            </a:r>
          </a:p>
        </p:txBody>
      </p:sp>
      <p:sp>
        <p:nvSpPr>
          <p:cNvPr id="15" name="Rounded Rectangle 14"/>
          <p:cNvSpPr/>
          <p:nvPr/>
        </p:nvSpPr>
        <p:spPr>
          <a:xfrm>
            <a:off x="731520" y="4352544"/>
            <a:ext cx="10728655"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4462272"/>
            <a:ext cx="548640" cy="54864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1300">
                <a:solidFill>
                  <a:srgbClr val="D97706"/>
                </a:solidFill>
              </a:defRPr>
            </a:pPr>
            <a:r>
              <a:t>04</a:t>
            </a:r>
          </a:p>
        </p:txBody>
      </p:sp>
      <p:sp>
        <p:nvSpPr>
          <p:cNvPr id="17" name="TextBox 16"/>
          <p:cNvSpPr txBox="1"/>
          <p:nvPr/>
        </p:nvSpPr>
        <p:spPr>
          <a:xfrm>
            <a:off x="1554480" y="4425696"/>
            <a:ext cx="9692640" cy="640080"/>
          </a:xfrm>
          <a:prstGeom prst="rect">
            <a:avLst/>
          </a:prstGeom>
          <a:noFill/>
        </p:spPr>
        <p:txBody>
          <a:bodyPr wrap="square">
            <a:spAutoFit/>
          </a:bodyPr>
          <a:lstStyle/>
          <a:p>
            <a:pPr>
              <a:defRPr b="1" sz="950">
                <a:solidFill>
                  <a:srgbClr val="1E293B"/>
                </a:solidFill>
              </a:defRPr>
            </a:pPr>
            <a:r>
              <a:t>TRANSFORMACIÓN ESTRUCTURAL DE LA MATRÍCULA PREGRADO — </a:t>
            </a:r>
            <a:r>
              <a:rPr b="0" sz="900">
                <a:solidFill>
                  <a:srgbClr val="64748B"/>
                </a:solidFill>
              </a:rPr>
              <a:t>La gratuidad universal (Ley 2307) absorbió la matrícula de pregrado, convirtiendo a los Recursos Propios de matrícula en un renglón complementario (solo 0,8% del presupuesto total).</a:t>
            </a:r>
          </a:p>
        </p:txBody>
      </p:sp>
      <p:sp>
        <p:nvSpPr>
          <p:cNvPr id="18" name="Rounded Rectangle 17"/>
          <p:cNvSpPr/>
          <p:nvPr/>
        </p:nvSpPr>
        <p:spPr>
          <a:xfrm>
            <a:off x="731520" y="5239512"/>
            <a:ext cx="10728655"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5349240"/>
            <a:ext cx="548640" cy="54864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b="1" sz="1300">
                <a:solidFill>
                  <a:srgbClr val="D97706"/>
                </a:solidFill>
              </a:defRPr>
            </a:pPr>
            <a:r>
              <a:t>05</a:t>
            </a:r>
          </a:p>
        </p:txBody>
      </p:sp>
      <p:sp>
        <p:nvSpPr>
          <p:cNvPr id="20" name="TextBox 19"/>
          <p:cNvSpPr txBox="1"/>
          <p:nvPr/>
        </p:nvSpPr>
        <p:spPr>
          <a:xfrm>
            <a:off x="1554480" y="5312664"/>
            <a:ext cx="9692640" cy="640080"/>
          </a:xfrm>
          <a:prstGeom prst="rect">
            <a:avLst/>
          </a:prstGeom>
          <a:noFill/>
        </p:spPr>
        <p:txBody>
          <a:bodyPr wrap="square">
            <a:spAutoFit/>
          </a:bodyPr>
          <a:lstStyle/>
          <a:p>
            <a:pPr>
              <a:defRPr b="1" sz="950">
                <a:solidFill>
                  <a:srgbClr val="1E293B"/>
                </a:solidFill>
              </a:defRPr>
            </a:pPr>
            <a:r>
              <a:t>VALOR ESTRATÉGICO DE LA AUTOGESTIÓN ($25.013 M COP) — </a:t>
            </a:r>
            <a:r>
              <a:rPr b="0" sz="900">
                <a:solidFill>
                  <a:srgbClr val="64748B"/>
                </a:solidFill>
              </a:rPr>
              <a:t>Aunque representa el 5,07% del volumen, los recursos de R20, R21 y R40 son el único pulmón financiero con autonomía institucional para responder a contingencias no elegibles en giros nacionales.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256032"/>
          </a:xfrm>
          <a:prstGeom prst="roundRect">
            <a:avLst/>
          </a:prstGeom>
          <a:solidFill>
            <a:srgbClr val="451A03"/>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b="1" sz="850">
                <a:solidFill>
                  <a:srgbClr val="FBBF24"/>
                </a:solidFill>
              </a:defRPr>
            </a:pPr>
            <a:r>
              <a:t>15. CONCLUSIÓN Y CIERRE | LECTURA FINANCIERA</a:t>
            </a:r>
          </a:p>
        </p:txBody>
      </p:sp>
      <p:sp>
        <p:nvSpPr>
          <p:cNvPr id="4" name="TextBox 3"/>
          <p:cNvSpPr txBox="1"/>
          <p:nvPr/>
        </p:nvSpPr>
        <p:spPr>
          <a:xfrm>
            <a:off x="731520" y="621792"/>
            <a:ext cx="10728655" cy="868680"/>
          </a:xfrm>
          <a:prstGeom prst="rect">
            <a:avLst/>
          </a:prstGeom>
          <a:noFill/>
        </p:spPr>
        <p:txBody>
          <a:bodyPr wrap="square" lIns="0" tIns="0" rIns="0" bIns="0">
            <a:spAutoFit/>
          </a:bodyPr>
          <a:lstStyle/>
          <a:p>
            <a:pPr>
              <a:defRPr b="1" sz="1650">
                <a:solidFill>
                  <a:srgbClr val="F8FAFC"/>
                </a:solidFill>
              </a:defRPr>
            </a:pPr>
            <a:r>
              <a:t>Lectura financiera de la proyección presupuestal institucional UPTC 2027</a:t>
            </a:r>
          </a:p>
          <a:p>
            <a:pPr>
              <a:spcBef>
                <a:spcPts val="200"/>
              </a:spcBef>
              <a:defRPr sz="1050">
                <a:solidFill>
                  <a:srgbClr val="94A3B8"/>
                </a:solidFill>
              </a:defRPr>
            </a:pPr>
            <a:r>
              <a:t>Recomendaciones estratégicas para la gobernanza financiera y toma de decisiones del Consejo Superior</a:t>
            </a:r>
          </a:p>
        </p:txBody>
      </p:sp>
      <p:sp>
        <p:nvSpPr>
          <p:cNvPr id="5" name="Rectangle 4"/>
          <p:cNvSpPr/>
          <p:nvPr/>
        </p:nvSpPr>
        <p:spPr>
          <a:xfrm>
            <a:off x="731520" y="6291072"/>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10728655" cy="320040"/>
          </a:xfrm>
          <a:prstGeom prst="rect">
            <a:avLst/>
          </a:prstGeom>
          <a:noFill/>
        </p:spPr>
        <p:txBody>
          <a:bodyPr wrap="none" lIns="0" tIns="0" rIns="0" bIns="0">
            <a:spAutoFit/>
          </a:bodyPr>
          <a:lstStyle/>
          <a:p>
            <a:pPr>
              <a:defRPr sz="850">
                <a:solidFill>
                  <a:srgbClr val="94A3B8"/>
                </a:solidFill>
              </a:defRPr>
            </a:pPr>
            <a:r>
              <a:t>Fuente: VAFI - Modelo Oficial de Proyecciones Presupuestales UPTC 2027.  |  Universidad Pedagógica y Tecnológica de Colombia (UPTC)  |  Vicerrectoría Administrativa y Financiera (VAFI)</a:t>
            </a:r>
          </a:p>
          <a:p>
            <a:pPr algn="r">
              <a:defRPr b="1" sz="850">
                <a:solidFill>
                  <a:srgbClr val="D97706"/>
                </a:solidFill>
              </a:defRPr>
            </a:pPr>
            <a:r>
              <a:t>16 / 16</a:t>
            </a:r>
          </a:p>
        </p:txBody>
      </p:sp>
      <p:sp>
        <p:nvSpPr>
          <p:cNvPr id="7" name="Rounded Rectangle 6"/>
          <p:cNvSpPr/>
          <p:nvPr/>
        </p:nvSpPr>
        <p:spPr>
          <a:xfrm>
            <a:off x="731520" y="1691640"/>
            <a:ext cx="2542032" cy="2286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2542032"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19"/>
            <a:ext cx="2267712" cy="2011680"/>
          </a:xfrm>
          <a:prstGeom prst="rect">
            <a:avLst/>
          </a:prstGeom>
          <a:noFill/>
        </p:spPr>
        <p:txBody>
          <a:bodyPr wrap="square">
            <a:spAutoFit/>
          </a:bodyPr>
          <a:lstStyle/>
          <a:p>
            <a:pPr>
              <a:defRPr b="1" sz="1000">
                <a:solidFill>
                  <a:srgbClr val="FBBF24"/>
                </a:solidFill>
              </a:defRPr>
            </a:pPr>
            <a:r>
              <a:t>1. VIABILIDAD Y SOSTENIBILIDAD</a:t>
            </a:r>
          </a:p>
          <a:p>
            <a:pPr>
              <a:spcBef>
                <a:spcPts val="800"/>
              </a:spcBef>
              <a:defRPr sz="850">
                <a:solidFill>
                  <a:srgbClr val="CBD5E1"/>
                </a:solidFill>
              </a:defRPr>
            </a:pPr>
            <a:r>
              <a:t>El modelo presentado es técnica y jurídicamente viable. Los $493.139,5 M COP garantizan la cobertura integral de nómina, gastos generales y proyectos de inversión aprobados.</a:t>
            </a:r>
          </a:p>
        </p:txBody>
      </p:sp>
      <p:sp>
        <p:nvSpPr>
          <p:cNvPr id="10" name="Rounded Rectangle 9"/>
          <p:cNvSpPr/>
          <p:nvPr/>
        </p:nvSpPr>
        <p:spPr>
          <a:xfrm>
            <a:off x="3456432" y="1691640"/>
            <a:ext cx="2542032" cy="2286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56432" y="1691640"/>
            <a:ext cx="2542032"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1874519"/>
            <a:ext cx="2267712" cy="2011680"/>
          </a:xfrm>
          <a:prstGeom prst="rect">
            <a:avLst/>
          </a:prstGeom>
          <a:noFill/>
        </p:spPr>
        <p:txBody>
          <a:bodyPr wrap="square">
            <a:spAutoFit/>
          </a:bodyPr>
          <a:lstStyle/>
          <a:p>
            <a:pPr>
              <a:defRPr b="1" sz="1000">
                <a:solidFill>
                  <a:srgbClr val="FBBF24"/>
                </a:solidFill>
              </a:defRPr>
            </a:pPr>
            <a:r>
              <a:t>2. ARTICULACIÓN CON TESORERÍA</a:t>
            </a:r>
          </a:p>
          <a:p>
            <a:pPr>
              <a:spcBef>
                <a:spcPts val="800"/>
              </a:spcBef>
              <a:defRPr sz="850">
                <a:solidFill>
                  <a:srgbClr val="CBD5E1"/>
                </a:solidFill>
              </a:defRPr>
            </a:pPr>
            <a:r>
              <a:t>Se recomienda articular la ejecución con el Módulo de Flujo de Caja VAFI para prever y compensar descalces temporales entre las fechas de nómina y los desembolsos de la Nación.</a:t>
            </a:r>
          </a:p>
        </p:txBody>
      </p:sp>
      <p:sp>
        <p:nvSpPr>
          <p:cNvPr id="13" name="Rounded Rectangle 12"/>
          <p:cNvSpPr/>
          <p:nvPr/>
        </p:nvSpPr>
        <p:spPr>
          <a:xfrm>
            <a:off x="6181344" y="1691640"/>
            <a:ext cx="2542032" cy="2286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1691640"/>
            <a:ext cx="2542032"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1874519"/>
            <a:ext cx="2267712" cy="2011680"/>
          </a:xfrm>
          <a:prstGeom prst="rect">
            <a:avLst/>
          </a:prstGeom>
          <a:noFill/>
        </p:spPr>
        <p:txBody>
          <a:bodyPr wrap="square">
            <a:spAutoFit/>
          </a:bodyPr>
          <a:lstStyle/>
          <a:p>
            <a:pPr>
              <a:defRPr b="1" sz="1000">
                <a:solidFill>
                  <a:srgbClr val="FBBF24"/>
                </a:solidFill>
              </a:defRPr>
            </a:pPr>
            <a:r>
              <a:t>3. FORTALECIMIENTO DE LA AUTOGESTIÓN</a:t>
            </a:r>
          </a:p>
          <a:p>
            <a:pPr>
              <a:spcBef>
                <a:spcPts val="800"/>
              </a:spcBef>
              <a:defRPr sz="850">
                <a:solidFill>
                  <a:srgbClr val="CBD5E1"/>
                </a:solidFill>
              </a:defRPr>
            </a:pPr>
            <a:r>
              <a:t>Incentivar la generación de Recursos Propios en posgrados, consultorías y laboratorios (R20) para preservar la autonomía institucional y ensanchar el margen de maniobra.</a:t>
            </a:r>
          </a:p>
        </p:txBody>
      </p:sp>
      <p:sp>
        <p:nvSpPr>
          <p:cNvPr id="16" name="Rounded Rectangle 15"/>
          <p:cNvSpPr/>
          <p:nvPr/>
        </p:nvSpPr>
        <p:spPr>
          <a:xfrm>
            <a:off x="8906256" y="1691640"/>
            <a:ext cx="2542032" cy="2286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06256" y="1691640"/>
            <a:ext cx="2542032"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43416" y="1874519"/>
            <a:ext cx="2267712" cy="2011680"/>
          </a:xfrm>
          <a:prstGeom prst="rect">
            <a:avLst/>
          </a:prstGeom>
          <a:noFill/>
        </p:spPr>
        <p:txBody>
          <a:bodyPr wrap="square">
            <a:spAutoFit/>
          </a:bodyPr>
          <a:lstStyle/>
          <a:p>
            <a:pPr>
              <a:defRPr b="1" sz="1000">
                <a:solidFill>
                  <a:srgbClr val="FBBF24"/>
                </a:solidFill>
              </a:defRPr>
            </a:pPr>
            <a:r>
              <a:t>4. INSTRUMENTO DINÁMICO DE DECISIÓN</a:t>
            </a:r>
          </a:p>
          <a:p>
            <a:pPr>
              <a:spcBef>
                <a:spcPts val="800"/>
              </a:spcBef>
              <a:defRPr sz="850">
                <a:solidFill>
                  <a:srgbClr val="CBD5E1"/>
                </a:solidFill>
              </a:defRPr>
            </a:pPr>
            <a:r>
              <a:t>Adoptar esta proyección como línea de base oficial para la formulación del Acuerdo de Presupuesto 2027, sujeta a ajustes paramétricos una vez se promulgue la Ley definitiva del PGN.</a:t>
            </a:r>
          </a:p>
        </p:txBody>
      </p:sp>
      <p:sp>
        <p:nvSpPr>
          <p:cNvPr id="19" name="Rounded Rectangle 18"/>
          <p:cNvSpPr/>
          <p:nvPr/>
        </p:nvSpPr>
        <p:spPr>
          <a:xfrm>
            <a:off x="731520" y="4206240"/>
            <a:ext cx="10728655" cy="1783080"/>
          </a:xfrm>
          <a:prstGeom prst="roundRect">
            <a:avLst/>
          </a:prstGeom>
          <a:solidFill>
            <a:srgbClr val="1E293B"/>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389120"/>
            <a:ext cx="9997135" cy="1371600"/>
          </a:xfrm>
          <a:prstGeom prst="rect">
            <a:avLst/>
          </a:prstGeom>
          <a:noFill/>
        </p:spPr>
        <p:txBody>
          <a:bodyPr wrap="square">
            <a:spAutoFit/>
          </a:bodyPr>
          <a:lstStyle/>
          <a:p>
            <a:pPr>
              <a:defRPr b="1" sz="1050">
                <a:solidFill>
                  <a:srgbClr val="D97706"/>
                </a:solidFill>
              </a:defRPr>
            </a:pPr>
            <a:r>
              <a:t>DECLARACIÓN DE CIERRE INSTITUCIONAL</a:t>
            </a:r>
          </a:p>
          <a:p>
            <a:pPr>
              <a:spcBef>
                <a:spcPts val="600"/>
              </a:spcBef>
              <a:defRPr b="1" i="1" sz="1300">
                <a:solidFill>
                  <a:srgbClr val="FFFFFF"/>
                </a:solidFill>
              </a:defRPr>
            </a:pPr>
            <a:r>
              <a:t>“La proyección presupuestal constituye una herramienta de planeación financiera y debe actualizarse conforme evolucionen los supuestos y la información observada.”</a:t>
            </a:r>
          </a:p>
          <a:p>
            <a:pPr>
              <a:spcBef>
                <a:spcPts val="600"/>
              </a:spcBef>
              <a:defRPr sz="950">
                <a:solidFill>
                  <a:srgbClr val="94A3B8"/>
                </a:solidFill>
              </a:defRPr>
            </a:pPr>
            <a:r>
              <a:t>Vicerrectoría Administrativa y Financiera (VAFI)  —  Universidad Pedagógica y Tecnológica de Colombia (UPTC)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